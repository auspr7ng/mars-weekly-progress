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b1bf4726d444a7" /><Relationship Type="http://schemas.openxmlformats.org/officeDocument/2006/relationships/extended-properties" Target="/docProps/app.xml" Id="R642cce52a88f4a4b" /><Relationship Type="http://schemas.openxmlformats.org/officeDocument/2006/relationships/officeDocument" Target="/ppt/presentation.xml" Id="R799df2c6c5d34970" /></Relationships>
</file>

<file path=ppt/presentation.xml><?xml version="1.0" encoding="utf-8"?>
<p:presentation xmlns:p="http://schemas.openxmlformats.org/presentationml/2006/main">
  <p:sldMasterIdLst>
    <p:sldMasterId xmlns:r="http://schemas.openxmlformats.org/officeDocument/2006/relationships" id="2147483648" r:id="R5958530cde6f40f8"/>
  </p:sldMasterIdLst>
  <p:notesMasterIdLst>
    <p:notesMasterId xmlns:r="http://schemas.openxmlformats.org/officeDocument/2006/relationships" r:id="R459b0bae344a4906"/>
  </p:notesMasterIdLst>
  <p:sldIdLst>
    <p:sldId xmlns:r="http://schemas.openxmlformats.org/officeDocument/2006/relationships" id="256" r:id="R9f377f01453d452b"/>
    <p:sldId xmlns:r="http://schemas.openxmlformats.org/officeDocument/2006/relationships" id="257" r:id="R9400a0840b2f42ba"/>
    <p:sldId xmlns:r="http://schemas.openxmlformats.org/officeDocument/2006/relationships" id="258" r:id="R5b629ab7bab646d0"/>
    <p:sldId xmlns:r="http://schemas.openxmlformats.org/officeDocument/2006/relationships" id="259" r:id="Raba428e4fbc24c68"/>
    <p:sldId xmlns:r="http://schemas.openxmlformats.org/officeDocument/2006/relationships" id="260" r:id="R38e1b192c636489b"/>
    <p:sldId xmlns:r="http://schemas.openxmlformats.org/officeDocument/2006/relationships" id="261" r:id="R707e556d260845c5"/>
    <p:sldId xmlns:r="http://schemas.openxmlformats.org/officeDocument/2006/relationships" id="262" r:id="R2892151ba250483a"/>
    <p:sldId xmlns:r="http://schemas.openxmlformats.org/officeDocument/2006/relationships" id="263" r:id="Rb4df571d5c4a4f09"/>
    <p:sldId xmlns:r="http://schemas.openxmlformats.org/officeDocument/2006/relationships" id="264" r:id="Rf60612919e574afd"/>
    <p:sldId xmlns:r="http://schemas.openxmlformats.org/officeDocument/2006/relationships" id="265" r:id="R9263e4a2067942af"/>
    <p:sldId xmlns:r="http://schemas.openxmlformats.org/officeDocument/2006/relationships" id="266" r:id="R021f672f389943c1"/>
    <p:sldId xmlns:r="http://schemas.openxmlformats.org/officeDocument/2006/relationships" id="267" r:id="Rba642c23b90c47a0"/>
    <p:sldId xmlns:r="http://schemas.openxmlformats.org/officeDocument/2006/relationships" id="268" r:id="Rf614087f8d9146ff"/>
    <p:sldId xmlns:r="http://schemas.openxmlformats.org/officeDocument/2006/relationships" id="269" r:id="R8b21f69c761748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726132e7094f8c" /><Relationship Type="http://schemas.openxmlformats.org/officeDocument/2006/relationships/slideMaster" Target="/ppt/slideMasters/slideMaster1.xml" Id="R5958530cde6f40f8" /><Relationship Type="http://schemas.openxmlformats.org/officeDocument/2006/relationships/notesMaster" Target="/ppt/notesMasters/notesMaster1.xml" Id="R459b0bae344a4906" /><Relationship Type="http://schemas.openxmlformats.org/officeDocument/2006/relationships/presProps" Target="/ppt/presProps.xml" Id="Rd7840f94bb5b4648" /><Relationship Type="http://schemas.openxmlformats.org/officeDocument/2006/relationships/tableStyles" Target="/ppt/tableStyles.xml" Id="R86f91f236b1b453c" /><Relationship Type="http://schemas.openxmlformats.org/officeDocument/2006/relationships/slide" Target="/ppt/slides/slide1.xml" Id="R9f377f01453d452b" /><Relationship Type="http://schemas.openxmlformats.org/officeDocument/2006/relationships/slide" Target="/ppt/slides/slide2.xml" Id="R9400a0840b2f42ba" /><Relationship Type="http://schemas.openxmlformats.org/officeDocument/2006/relationships/slide" Target="/ppt/slides/slide3.xml" Id="R5b629ab7bab646d0" /><Relationship Type="http://schemas.openxmlformats.org/officeDocument/2006/relationships/slide" Target="/ppt/slides/slide4.xml" Id="Raba428e4fbc24c68" /><Relationship Type="http://schemas.openxmlformats.org/officeDocument/2006/relationships/slide" Target="/ppt/slides/slide5.xml" Id="R38e1b192c636489b" /><Relationship Type="http://schemas.openxmlformats.org/officeDocument/2006/relationships/slide" Target="/ppt/slides/slide6.xml" Id="R707e556d260845c5" /><Relationship Type="http://schemas.openxmlformats.org/officeDocument/2006/relationships/slide" Target="/ppt/slides/slide7.xml" Id="R2892151ba250483a" /><Relationship Type="http://schemas.openxmlformats.org/officeDocument/2006/relationships/slide" Target="/ppt/slides/slide8.xml" Id="Rb4df571d5c4a4f09" /><Relationship Type="http://schemas.openxmlformats.org/officeDocument/2006/relationships/slide" Target="/ppt/slides/slide9.xml" Id="Rf60612919e574afd" /><Relationship Type="http://schemas.openxmlformats.org/officeDocument/2006/relationships/slide" Target="/ppt/slides/slide10.xml" Id="R9263e4a2067942af" /><Relationship Type="http://schemas.openxmlformats.org/officeDocument/2006/relationships/slide" Target="/ppt/slides/slide11.xml" Id="R021f672f389943c1" /><Relationship Type="http://schemas.openxmlformats.org/officeDocument/2006/relationships/slide" Target="/ppt/slides/slide12.xml" Id="Rba642c23b90c47a0" /><Relationship Type="http://schemas.openxmlformats.org/officeDocument/2006/relationships/slide" Target="/ppt/slides/slide13.xml" Id="Rf614087f8d9146ff" /><Relationship Type="http://schemas.openxmlformats.org/officeDocument/2006/relationships/slide" Target="/ppt/slides/slide14.xml" Id="R8b21f69c761748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a0f267f7ed48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d71c746aa84765" /><Relationship Type="http://schemas.openxmlformats.org/officeDocument/2006/relationships/notesMaster" Target="/ppt/notesMasters/notesMaster1.xml" Id="Reb76f735e09940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3ec5bc14a5450e" /><Relationship Type="http://schemas.openxmlformats.org/officeDocument/2006/relationships/notesMaster" Target="/ppt/notesMasters/notesMaster1.xml" Id="R446a2d289aa041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d83f0083f249c8" /><Relationship Type="http://schemas.openxmlformats.org/officeDocument/2006/relationships/notesMaster" Target="/ppt/notesMasters/notesMaster1.xml" Id="Rb75c6c4fefbb4e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864bc98e594286" /><Relationship Type="http://schemas.openxmlformats.org/officeDocument/2006/relationships/notesMaster" Target="/ppt/notesMasters/notesMaster1.xml" Id="Rc5a83d480feb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c8470b461a455c" /><Relationship Type="http://schemas.openxmlformats.org/officeDocument/2006/relationships/notesMaster" Target="/ppt/notesMasters/notesMaster1.xml" Id="Red21978f8ea2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fbc71d080b4419" /><Relationship Type="http://schemas.openxmlformats.org/officeDocument/2006/relationships/notesMaster" Target="/ppt/notesMasters/notesMaster1.xml" Id="R112f1c87b3bb44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782b2a465445b4" /><Relationship Type="http://schemas.openxmlformats.org/officeDocument/2006/relationships/notesMaster" Target="/ppt/notesMasters/notesMaster1.xml" Id="R26a05289b69a4d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10b2745bb24f59" /><Relationship Type="http://schemas.openxmlformats.org/officeDocument/2006/relationships/notesMaster" Target="/ppt/notesMasters/notesMaster1.xml" Id="R00d2ff2a7c6d49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e1d661e757448d" /><Relationship Type="http://schemas.openxmlformats.org/officeDocument/2006/relationships/notesMaster" Target="/ppt/notesMasters/notesMaster1.xml" Id="Rfa1579ab1e0441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4ecc0db21a414a" /><Relationship Type="http://schemas.openxmlformats.org/officeDocument/2006/relationships/notesMaster" Target="/ppt/notesMasters/notesMaster1.xml" Id="Re6a2c9ec898e46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34ecf1d3e04edd" /><Relationship Type="http://schemas.openxmlformats.org/officeDocument/2006/relationships/notesMaster" Target="/ppt/notesMasters/notesMaster1.xml" Id="Rf80da036b30c4a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9b33e5954548a4" /><Relationship Type="http://schemas.openxmlformats.org/officeDocument/2006/relationships/notesMaster" Target="/ppt/notesMasters/notesMaster1.xml" Id="Re924dd9dbc9d4c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8fc2fc92214a7e" /><Relationship Type="http://schemas.openxmlformats.org/officeDocument/2006/relationships/notesMaster" Target="/ppt/notesMasters/notesMaster1.xml" Id="R66a0bb40f5a545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808c6bfc6e4f42" /><Relationship Type="http://schemas.openxmlformats.org/officeDocument/2006/relationships/notesMaster" Target="/ppt/notesMasters/notesMaster1.xml" Id="R25d0cc5f5d2c4d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3: Sunday A1 migration from Isaac Sim to mjlab. Technical focus: FlexiTac-style distance sampling, hand and foot response mappings, independent ball grasps.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C:/Users/Auspring/Desktop/MARS/Progress/Week3/code/src/sunday_a1_mjlab/ball_grasp.py; C:/Users/Auspring/Desktop/MARS/Progress/Week3/code/src/sunday_a1_mjlab/tasks.py; C:/Users/Auspring/Desktop/MARS/Progress/Week3/01_dual_hand_grasp.jpg. Fixed-base task, 27 position actions. No autonomous reaching or locomotion policy. The free balls obey gravity and solver contact. Tactile sampling does not apply its own spring forces. GPU simulation runs in Python through mjlab and MuJoCo Warp. Viser provides browser display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recording 2026-10-29 022253.mp4, 14.549313 s, H.264/AAC. Original media is embedded in this presentation. The native preview does not include the complete ball/tactile controls. Browser and native viewers are display options. Both can display MuJoCo physics when the application supplies the scene and control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implementation: C:/Users/Auspring/Desktop/MARS/Progress/Week3/code/src/sunday_a1_mjlab/flexitac.py, local_taxels, initialize_surface_taxels, sample_taxels; C:/Users/Auspring/Desktop/MARS/Progress/Week3/code/src/sunday_a1_mjlab/feet_tactile.py. Equation represents a regular tangent-plane grid. For fingers, signed local Z follows the inward orientation. Geometry vertices and positions use meters after MuJoCo import. Patch coverage M*Delta by N*Delta counts taxel cells, whereas center-to-center span is (M-1)*Delta by (N-1)*Delta. Body and geom pose matrices come from current MuJoCo Warp state. This is the rigid coordinate-transform method used in the FlexiTac Isaac implementation, not an import of its sensor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C:/Users/Auspring/Desktop/MARS/Progress/Week3/code/src/sunday_a1_mjlab/flexitac.py, sample_taxels and merge_scene_taxels. Mesh query uses wp.Mesh, wp.mesh_query_point and wp.mesh_eval_position, with maximum query distance 0.1 m and a default 0.1 m value for a miss. Target filter excludes the sensor's own body, disabled visual duplicates and unrelated non-finger robot bodies. Supported shapes: plane, sphere, capsule, cylinder, box, approximate ellipsoid and triangle mesh. Six non-plane geometry types have saved probe tests. The original FlexiTac sensor D:/robotics/FlexiTac-IsaacSim-Simulation/source/isaaclab/isaaclab/sensors/warp_sdf_tactile/warp_sdf_tactile_sensor.py supports unsigned, winding signed and normal-based signed modes. Week 2 selected unsigned mode for hands. This port retains unsigned meshes and adds analytic scene-object signed distances. This mixed distance representation is an intentional approximation, not a universal exact SDF.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formula: C:/Users/Auspring/Desktop/MARS/Progress/Week3/code/src/sunday_a1_mjlab/flexitac.py, SHELL_M=0.0015, STIFFNESS=5000, MAX_RESPONSE=2.4 and Warp response assignment. The original D:/robotics/FlexiTac-IsaacSim-Simulation/source/isaaclab/isaaclab/sensors/warp_sdf_tactile/warp_sdf_tactile_sensor.py computes penetration=max(shell-distance,0) for unsigned meshes, clamps k*penetration to max_force, then divides by max_force. Week 2 set shell=1.5 mm, effective world stiffness=5000, max_force=2.4 with normalized output. This port reproduces that numerical mapping. Do not interpret k as a validated skin stiffness or the normalized output as calibrated force. Equivalent normalized gain is 2083.3333 per meter, or a 0.48 mm full-scale shell compression. Hand analytic geometry currently uses the same shell mapping even when its distance is signed. The plotted line is an exact calculation of this function, not measured data. At d=1.02 mm, response=1. At 1.2 mm, response=.625. This readout can activate before solver contact and does not feed an additional force back into the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C:/Users/Auspring/Desktop/MARS/Progress/Week3/results/ball_grasp/vertical_held_heatmaps.png; C:/Users/Auspring/Desktop/MARS/Progress/Week3/code/src/sunday_a1_mjlab/tactile_display.py; C:/Users/Auspring/Desktop/MARS/Progress/Week3/code/src/sunday_a1_mjlab/flexitac.py. The image shows held-ball patterns. The display transposes storage axes and accounts for opposing finger orientation. It does not rotate physical patches or alter raw observations. Uniform red during empty closure can result from broad opposing-surface proximity and numerical saturation, rather than a measured pressure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C:/Users/Auspring/Desktop/MARS/Progress/Week3/code/src/sunday_a1_mjlab/feet_tactile.py; C:/Users/Auspring/Desktop/MARS/Progress/Week3/02_hand_and_foot_sensor_view.jpg. Local patch plane z=-30 mm. Front/heel y=-99.175/-3.175 mm. Center spacing 96 mm gives 16 mm gap between 80 mm cell-coverage patches. Local -Y points toward the toe. Left/right patch center x=+5/-5 mm. Same common local-grid and Warp-query engine as the hands. Simulation uses 2 ms physics steps, 10 substeps per 20 ms control step. The tactile observation updates with the control cycle, and Viser refreshes approximately 10 Hz.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C:/Users/Auspring/Desktop/MARS/Progress/Week3/code/src/sunday_a1_mjlab/feet_tactile.py; C:/Users/Auspring/Desktop/MARS/Progress/Week3/code/src/sunday_a1_mjlab/flexitac.py, response_depth_m causes stiffness=1 and max_response=.002, with shell=0. Signed plane distance produces the shown penetration proxy. This custom foot normalization differs from the hand mapping but uses the same sample/query/output pipeline. The plotted line is the exact mathematical response, not measured data. For unsigned meshes, d cannot be negative, so a zero-shell response cannot detect mesh penetration. Current sole-ground sensing uses an analytic plane. A general uneven triangle-mesh terrain implementation would require signed queries or another penetration/contact method. The response does not deform a skin or add normal force to the physics solver.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C:/Users/Auspring/Desktop/MARS/Progress/Week3/03_foot_heatmaps.png; C:/Users/Auspring/Desktop/MARS/Progress/Week3/results/feet_tactile/check.json; C:/Users/Auspring/Desktop/MARS/Progress/Week3/code/src/sunday_a1_mjlab/tactile_display.py; included source URDF. The original model has approximately .766 mm hip-roll-origin Z asymmetry plus .054 mm ankle-pitch-origin Z asymmetry. The CAD design reason remains unknown. Initial fixed-base root lowers by 6 mm to engage feet. Tilt controls command l_ankle_roll/r_ankle_roll targets, rather than changing installation transforms permanently. Different responses do not alone establish sensor error or different foot forces. The fixed-base support constraint prevents interpreting sole response as total robot weight. Hand fixed scale and foot automatic scale mean their colors cannot be compared as physical 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D:/robotics/FlexiTac-IsaacSim-Simulation/source/isaaclab/isaaclab/sensors/warp_sdf_tactile/warp_sdf_tactile_sensor.py; C:/Users/Auspring/Desktop/MARS/Progress/Week3/code/src/sunday_a1_mjlab/flexitac.py; C:/Users/Auspring/Desktop/MARS/Progress/Week3/code/src/sunday_a1_mjlab/mjlab_flexitac.py; C:/Users/Auspring/Desktop/MARS/Progress/Week3/code/src/sunday_a1_mjlab/feet_tactile.py. See external project and repository links in Week3/README.md. The original sensor offers unsigned, winding signed and normal signed mesh options. Week 2 hands selected unsigned shell mode; Week 1 feet selected signed ground distance. A custom implementation preserves the regular-grid, rigid-frame, Warp-distance and clipped-response methods while replacing platform-specific data access and lifecycle hooks. New eligible scene-object support retains opposing-finger sensing after release. Ellipsoid distances are approximate. New scene geometry requires rebuilding the candidate list. No heightfield or custom SDF geom support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recording 2026-10-29 032143.mp4, 50.943979 s, H.264/AAC, 1918 x 992. The original recording is embedded in the presentation. This recording replaces the earlier 025102 clip and shows the combined eight-array demo after correcting the right-hand tactile sampling planes. It demonstrates independent grasp and release controls. The browser displays the local mjlab simulation through Viser. Heatmap values remain normalized distance responses rather than calibrated pressure. Click the video in PowerPoint slide show mode to 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numerical evidence, not a new hardware experiment: C:/Users/Auspring/Desktop/MARS/Progress/Week3/results/ball_grasp/dual_check.json (passed, left/right drift .00047683717044/.00047683716785 m, vertical contact sums approximately .392400056/.392398998 N); C:/Users/Auspring/Desktop/MARS/Progress/Week3/results/feet_tactile/check.json (passed, 4 environments, [4,4,1024,4] output, sole surface error 5.460815737e-05 m, world transform error approx 1.19e-7 m); C:/Users/Auspring/Desktop/MARS/Progress/Week3/results/ball_grasp/object_sensing_check.json. Per-hand release, empty closing, offsets and reset isolation also pass in the dual-grasp record. Objects include sphere, box, capsule, cylinder, ellipsoid and mesh. Ball radius=.014 m, mass=.040 kg. MuJoCo solver contact forces provide Newton units. Summing normalized tactile values is not an alternative force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Area equation uses nominal square cell coverage, not a claim about measured active hardware electrode area. F_i must come from a validated calibration or contact-distribution model. Neither the hand shell nor the foot depth mapping is currently calibrated to hardware pressure. Fixed-base constraints carry part of the robot load and make sum-of-sole-response weight estimates invalid. The software is a rigid-body sampling approximation with no deformable skin, electrical response or validated material model. Follow-up work should address signed distances on triangle-mesh terrain before claiming general sole penetration sensing. See Week3_Migration_Report.md and README.md for implementation and external reference links. Available launcher remains start_demo.bat.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a1505841b249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da9b5dfcef4c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65170440c243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0056616c8841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191f16207f43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a3ce85a7264c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72F596-4EB4-42C7-A0D5-5A408A64D5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EA22B5-C70C-41D2-8D39-9507E6CAF7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543030-34AB-43EB-B018-0C64077B8E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9AD65E-3F02-460E-BE47-36A75D9495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7D830E-F774-415A-8F4C-670EEE3705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2AD7A8-7045-4F38-825D-F1677C31EE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E1F73A-5456-46F2-9AF2-45818B159C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8ED88B-E355-4D27-822F-1FC5E76539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2A4731-E533-4047-B188-6FE0135DDB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8CA5CF-656C-4F9B-BD91-CD238DCD49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dea8afdef6439a" /><Relationship Type="http://schemas.openxmlformats.org/officeDocument/2006/relationships/slideLayout" Target="/ppt/slideLayouts/slideLayout1.xml" Id="R7561b551ee024265" /><Relationship Type="http://schemas.openxmlformats.org/officeDocument/2006/relationships/slideLayout" Target="/ppt/slideLayouts/slideLayout2.xml" Id="R06ae89355a6c4412" /><Relationship Type="http://schemas.openxmlformats.org/officeDocument/2006/relationships/slideLayout" Target="/ppt/slideLayouts/slideLayout3.xml" Id="Rf310179c740849f4" /><Relationship Type="http://schemas.openxmlformats.org/officeDocument/2006/relationships/slideLayout" Target="/ppt/slideLayouts/slideLayout4.xml" Id="R58dfbba767f4418a" /><Relationship Type="http://schemas.openxmlformats.org/officeDocument/2006/relationships/slideLayout" Target="/ppt/slideLayouts/slideLayout5.xml" Id="R19369017f9cc4437" /><Relationship Type="http://schemas.openxmlformats.org/officeDocument/2006/relationships/slideLayout" Target="/ppt/slideLayouts/slideLayout6.xml" Id="R0cb3600d717641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61b551ee024265"/>
    <p:sldLayoutId xmlns:r="http://schemas.openxmlformats.org/officeDocument/2006/relationships" id="2147483650" r:id="R06ae89355a6c4412"/>
    <p:sldLayoutId xmlns:r="http://schemas.openxmlformats.org/officeDocument/2006/relationships" id="2147483651" r:id="Rf310179c740849f4"/>
    <p:sldLayoutId xmlns:r="http://schemas.openxmlformats.org/officeDocument/2006/relationships" id="2147483652" r:id="R58dfbba767f4418a"/>
    <p:sldLayoutId xmlns:r="http://schemas.openxmlformats.org/officeDocument/2006/relationships" id="2147483653" r:id="R19369017f9cc4437"/>
    <p:sldLayoutId xmlns:r="http://schemas.openxmlformats.org/officeDocument/2006/relationships" id="2147483654" r:id="R0cb3600d717641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ff8f7d4b8d4c11" /><Relationship Type="http://schemas.openxmlformats.org/officeDocument/2006/relationships/notesSlide" Target="/ppt/notesSlides/notesSlide1.xml" Id="R5882184be05b45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fbdcf778c9413b" /><Relationship Type="http://schemas.openxmlformats.org/officeDocument/2006/relationships/image" Target="/ppt/media/image.jpeg" Id="R6536dc1985c343e8" /><Relationship Type="http://schemas.openxmlformats.org/officeDocument/2006/relationships/notesSlide" Target="/ppt/notesSlides/notesSlide2.xml" Id="R045759ab0a80431d"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e1dd048b14b446f7"/><Relationship Type="http://schemas.openxmlformats.org/officeDocument/2006/relationships/image" Target="/ppt/media/image.png" Id="Rcf2da403138e4605"/><Relationship Type="http://schemas.openxmlformats.org/officeDocument/2006/relationships/notesSlide" Target="/ppt/notesSlides/notesSlide3.xml" Id="Rfae02e160d034aea"/><Relationship Id="rIdEmbeddedVideo1" Type="http://schemas.openxmlformats.org/officeDocument/2006/relationships/video" Target="../media/week3_recording_1.mp4"/><Relationship Id="rIdEmbeddedMedia1" Type="http://schemas.microsoft.com/office/2007/relationships/media" Target="../media/week3_recording_1.mp4"/></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d1e16d55c14100" /><Relationship Type="http://schemas.openxmlformats.org/officeDocument/2006/relationships/notesSlide" Target="/ppt/notesSlides/notesSlide4.xml" Id="R2b65a965c27047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5186a0146141e9" /><Relationship Type="http://schemas.openxmlformats.org/officeDocument/2006/relationships/notesSlide" Target="/ppt/notesSlides/notesSlide5.xml" Id="Rc728e38e896b4f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28c049d5954425" /><Relationship Type="http://schemas.openxmlformats.org/officeDocument/2006/relationships/chart" Target="/ppt/slides/charts/chart1.xml" Id="Rd066bc2a68684af3" /><Relationship Type="http://schemas.openxmlformats.org/officeDocument/2006/relationships/notesSlide" Target="/ppt/notesSlides/notesSlide6.xml" Id="Rc587501cf42d43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86f0f875ee4182" /><Relationship Type="http://schemas.openxmlformats.org/officeDocument/2006/relationships/image" Target="/ppt/media/image2.png" Id="Rae7157d5ccc14bc8" /><Relationship Type="http://schemas.openxmlformats.org/officeDocument/2006/relationships/notesSlide" Target="/ppt/notesSlides/notesSlide7.xml" Id="R99eea449910644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ade1317376141c7" /><Relationship Type="http://schemas.openxmlformats.org/officeDocument/2006/relationships/image" Target="/ppt/media/image2.jpeg" Id="R5aca04f1cb7e4ccb" /><Relationship Type="http://schemas.openxmlformats.org/officeDocument/2006/relationships/notesSlide" Target="/ppt/notesSlides/notesSlide8.xml" Id="R8179ab98ad914c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72564acfce4995" /><Relationship Type="http://schemas.openxmlformats.org/officeDocument/2006/relationships/chart" Target="/ppt/slides/charts/chart2.xml" Id="R31cdf8ec7a834fde" /><Relationship Type="http://schemas.openxmlformats.org/officeDocument/2006/relationships/notesSlide" Target="/ppt/notesSlides/notesSlide9.xml" Id="R1d668b5e47e84e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51230ae0704956" /><Relationship Type="http://schemas.openxmlformats.org/officeDocument/2006/relationships/image" Target="/ppt/media/image3.png" Id="R5ef089d4c99f402f" /><Relationship Type="http://schemas.openxmlformats.org/officeDocument/2006/relationships/notesSlide" Target="/ppt/notesSlides/notesSlide10.xml" Id="Ra656fa5c11454c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f33734ec244e95" /><Relationship Type="http://schemas.openxmlformats.org/officeDocument/2006/relationships/notesSlide" Target="/ppt/notesSlides/notesSlide11.xml" Id="Rb8cd15d32bef4919" /></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1f74a85d34314bee"/><Relationship Type="http://schemas.openxmlformats.org/officeDocument/2006/relationships/image" Target="/ppt/media/image4.png" Id="R1db324c5ac15496b"/><Relationship Type="http://schemas.openxmlformats.org/officeDocument/2006/relationships/notesSlide" Target="/ppt/notesSlides/notesSlide12.xml" Id="R4178e63a26e84520"/><Relationship Id="rIdEmbeddedVideo2" Type="http://schemas.openxmlformats.org/officeDocument/2006/relationships/video" Target="../media/week3_recording_2.mp4"/><Relationship Id="rIdEmbeddedMedia2" Type="http://schemas.microsoft.com/office/2007/relationships/media" Target="../media/week3_recording_2.mp4"/></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38d94db7e9431c" /><Relationship Type="http://schemas.openxmlformats.org/officeDocument/2006/relationships/notesSlide" Target="/ppt/notesSlides/notesSlide13.xml" Id="R13edb3f400b348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f1a9dbac7840ed" /><Relationship Type="http://schemas.openxmlformats.org/officeDocument/2006/relationships/notesSlide" Target="/ppt/notesSlides/notesSlide14.xml" Id="R44468bafb62048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Finger response</a:t>
            </a:r>
          </a:p>
        </c:rich>
      </c:tx>
    </c:title>
    <c:plotArea>
      <c:scatterChart>
        <c:scatterStyle val="line"/>
        <c:varyColors val="0"/>
        <c:ser>
          <c:idx val="0"/>
          <c:order val="0"/>
          <c:tx>
            <c:v>Normalized response</c:v>
          </c:tx>
          <c:spPr>
            <a:ln xmlns:a="http://schemas.openxmlformats.org/drawingml/2006/main" w="23813">
              <a:solidFill>
                <a:srgbClr val="333333"/>
              </a:solidFill>
            </a:ln>
          </c:spPr>
          <c:marker>
            <c:symbol val="none"/>
          </c:marker>
          <c:xVal>
            <c:numRef>
              <c:f>'Chart Data'!$A$2:$A$14</c:f>
              <c:numCache>
                <c:formatCode>General</c:formatCode>
                <c:ptCount val="13"/>
                <c:pt idx="0">
                  <c:v>0</c:v>
                </c:pt>
                <c:pt idx="1">
                  <c:v>0.25</c:v>
                </c:pt>
                <c:pt idx="2">
                  <c:v>0.5</c:v>
                </c:pt>
                <c:pt idx="3">
                  <c:v>0.75</c:v>
                </c:pt>
                <c:pt idx="4">
                  <c:v>1</c:v>
                </c:pt>
                <c:pt idx="5">
                  <c:v>1.02</c:v>
                </c:pt>
                <c:pt idx="6">
                  <c:v>1.1</c:v>
                </c:pt>
                <c:pt idx="7">
                  <c:v>1.2</c:v>
                </c:pt>
                <c:pt idx="8">
                  <c:v>1.3</c:v>
                </c:pt>
                <c:pt idx="9">
                  <c:v>1.4</c:v>
                </c:pt>
                <c:pt idx="10">
                  <c:v>1.5</c:v>
                </c:pt>
                <c:pt idx="11">
                  <c:v>1.75</c:v>
                </c:pt>
                <c:pt idx="12">
                  <c:v>2</c:v>
                </c:pt>
              </c:numCache>
            </c:numRef>
          </c:xVal>
          <c:yVal>
            <c:numRef>
              <c:f>'Chart Data'!$B$2:$B$14</c:f>
              <c:numCache>
                <c:formatCode>0.00</c:formatCode>
                <c:ptCount val="13"/>
                <c:pt idx="0">
                  <c:v>1</c:v>
                </c:pt>
                <c:pt idx="1">
                  <c:v>1</c:v>
                </c:pt>
                <c:pt idx="2">
                  <c:v>1</c:v>
                </c:pt>
                <c:pt idx="3">
                  <c:v>1</c:v>
                </c:pt>
                <c:pt idx="4">
                  <c:v>1</c:v>
                </c:pt>
                <c:pt idx="5">
                  <c:v>1</c:v>
                </c:pt>
                <c:pt idx="6">
                  <c:v>0.833333333</c:v>
                </c:pt>
                <c:pt idx="7">
                  <c:v>0.625</c:v>
                </c:pt>
                <c:pt idx="8">
                  <c:v>0.416666667</c:v>
                </c:pt>
                <c:pt idx="9">
                  <c:v>0.208333333</c:v>
                </c:pt>
                <c:pt idx="10">
                  <c:v>0</c:v>
                </c:pt>
                <c:pt idx="11">
                  <c:v>0</c:v>
                </c:pt>
                <c:pt idx="12">
                  <c:v>0</c:v>
                </c:pt>
              </c:numCache>
            </c:numRef>
          </c:yVal>
        </c:ser>
        <c:axId val="48650112"/>
        <c:axId val="48672768"/>
      </c:scatterChart>
      <c:valAx>
        <c:axId val="48672768"/>
        <c:scaling>
          <c:orientation val="minMax"/>
          <c:max val="1"/>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sz="1350">
                    <a:solidFill>
                      <a:srgbClr val="333333"/>
                    </a:solidFill>
                  </a:rPr>
                  <a:t>Response r</a:t>
                </a:r>
              </a:p>
            </c:rich>
          </c:tx>
          <c:overlay val="0"/>
          <c:txPr>
            <a:bodyPr xmlns:a="http://schemas.openxmlformats.org/drawingml/2006/main" anchorCtr="1"/>
            <a:lstStyle xmlns:a="http://schemas.openxmlformats.org/drawingml/2006/main"/>
            <a:p xmlns:a="http://schemas.openxmlformats.org/drawingml/2006/main">
              <a:pPr>
                <a:defRPr sz="1350">
                  <a:solidFill>
                    <a:srgbClr val="333333"/>
                  </a:solidFill>
                </a:defRPr>
              </a:pPr>
            </a:p>
          </c:txPr>
        </c:title>
        <c:numFmt formatCode="0.00"/>
        <c:majorTickMark val="none"/>
        <c:minorTickMark val="none"/>
        <c:tickLblPos val="low"/>
        <c:spPr>
          <a:ln xmlns:a="http://schemas.openxmlformats.org/drawingml/2006/main" w="9525">
            <a:solidFill>
              <a:srgbClr val="666666"/>
            </a:solidFill>
          </a:ln>
        </c:spPr>
        <c:txPr>
          <a:bodyPr xmlns:a="http://schemas.openxmlformats.org/drawingml/2006/main" anchorCtr="1"/>
          <a:lstStyle xmlns:a="http://schemas.openxmlformats.org/drawingml/2006/main"/>
          <a:p xmlns:a="http://schemas.openxmlformats.org/drawingml/2006/main">
            <a:pPr>
              <a:defRPr sz="1275">
                <a:solidFill>
                  <a:srgbClr val="333333"/>
                </a:solidFill>
              </a:defRPr>
            </a:pPr>
          </a:p>
        </c:txPr>
        <c:crossAx val="48650112"/>
        <c:majorUnit val="0.25"/>
      </c:valAx>
      <c:valAx>
        <c:axId val="48650112"/>
        <c:scaling>
          <c:orientation val="minMax"/>
          <c:max val="2"/>
          <c:min val="0"/>
        </c:scaling>
        <c:delete val="0"/>
        <c:axPos val="b"/>
        <c:title>
          <c:tx>
            <c:rich>
              <a:bodyPr xmlns:a="http://schemas.openxmlformats.org/drawingml/2006/main"/>
              <a:lstStyle xmlns:a="http://schemas.openxmlformats.org/drawingml/2006/main"/>
              <a:p xmlns:a="http://schemas.openxmlformats.org/drawingml/2006/main">
                <a:r>
                  <a:rPr sz="1350">
                    <a:solidFill>
                      <a:srgbClr val="333333"/>
                    </a:solidFill>
                  </a:rPr>
                  <a:t>Distance d (mm)</a:t>
                </a:r>
              </a:p>
            </c:rich>
          </c:tx>
          <c:overlay val="0"/>
          <c:txPr>
            <a:bodyPr xmlns:a="http://schemas.openxmlformats.org/drawingml/2006/main" anchorCtr="1"/>
            <a:lstStyle xmlns:a="http://schemas.openxmlformats.org/drawingml/2006/main"/>
            <a:p xmlns:a="http://schemas.openxmlformats.org/drawingml/2006/main">
              <a:pPr>
                <a:defRPr sz="1350">
                  <a:solidFill>
                    <a:srgbClr val="333333"/>
                  </a:solidFill>
                </a:defRPr>
              </a:pPr>
            </a:p>
          </c:txPr>
        </c:title>
        <c:numFmt formatCode="0.0"/>
        <c:majorTickMark val="none"/>
        <c:minorTickMark val="none"/>
        <c:spPr>
          <a:ln xmlns:a="http://schemas.openxmlformats.org/drawingml/2006/main" w="9525">
            <a:solidFill>
              <a:srgbClr val="666666"/>
            </a:solidFill>
          </a:ln>
        </c:spPr>
        <c:txPr>
          <a:bodyPr xmlns:a="http://schemas.openxmlformats.org/drawingml/2006/main" anchorCtr="1"/>
          <a:lstStyle xmlns:a="http://schemas.openxmlformats.org/drawingml/2006/main"/>
          <a:p xmlns:a="http://schemas.openxmlformats.org/drawingml/2006/main">
            <a:pPr>
              <a:defRPr sz="1275">
                <a:solidFill>
                  <a:srgbClr val="333333"/>
                </a:solidFill>
              </a:defRPr>
            </a:pPr>
          </a:p>
        </c:txPr>
        <c:crossAx val="48672768"/>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Sole response</a:t>
            </a:r>
          </a:p>
        </c:rich>
      </c:tx>
    </c:title>
    <c:plotArea>
      <c:scatterChart>
        <c:scatterStyle val="line"/>
        <c:varyColors val="0"/>
        <c:ser>
          <c:idx val="0"/>
          <c:order val="0"/>
          <c:tx>
            <c:v>Normalized response</c:v>
          </c:tx>
          <c:spPr>
            <a:ln xmlns:a="http://schemas.openxmlformats.org/drawingml/2006/main" w="23813">
              <a:solidFill>
                <a:srgbClr val="333333"/>
              </a:solidFill>
            </a:ln>
          </c:spPr>
          <c:marker>
            <c:symbol val="none"/>
          </c:marker>
          <c:xVal>
            <c:numRef>
              <c:f>'Chart Data'!$A$2:$A$9</c:f>
              <c:numCache>
                <c:formatCode>General</c:formatCode>
                <c:ptCount val="8"/>
                <c:pt idx="0">
                  <c:v>-2.5</c:v>
                </c:pt>
                <c:pt idx="1">
                  <c:v>-2</c:v>
                </c:pt>
                <c:pt idx="2">
                  <c:v>-1.5</c:v>
                </c:pt>
                <c:pt idx="3">
                  <c:v>-1</c:v>
                </c:pt>
                <c:pt idx="4">
                  <c:v>-0.5</c:v>
                </c:pt>
                <c:pt idx="5">
                  <c:v>0</c:v>
                </c:pt>
                <c:pt idx="6">
                  <c:v>0.5</c:v>
                </c:pt>
                <c:pt idx="7">
                  <c:v>1</c:v>
                </c:pt>
              </c:numCache>
            </c:numRef>
          </c:xVal>
          <c:yVal>
            <c:numRef>
              <c:f>'Chart Data'!$B$2:$B$9</c:f>
              <c:numCache>
                <c:formatCode>0.00</c:formatCode>
                <c:ptCount val="8"/>
                <c:pt idx="0">
                  <c:v>1</c:v>
                </c:pt>
                <c:pt idx="1">
                  <c:v>1</c:v>
                </c:pt>
                <c:pt idx="2">
                  <c:v>0.75</c:v>
                </c:pt>
                <c:pt idx="3">
                  <c:v>0.5</c:v>
                </c:pt>
                <c:pt idx="4">
                  <c:v>0.25</c:v>
                </c:pt>
                <c:pt idx="5">
                  <c:v>0</c:v>
                </c:pt>
                <c:pt idx="6">
                  <c:v>0</c:v>
                </c:pt>
                <c:pt idx="7">
                  <c:v>0</c:v>
                </c:pt>
              </c:numCache>
            </c:numRef>
          </c:yVal>
        </c:ser>
        <c:axId val="48650112"/>
        <c:axId val="48672768"/>
      </c:scatterChart>
      <c:valAx>
        <c:axId val="48672768"/>
        <c:scaling>
          <c:orientation val="minMax"/>
          <c:max val="1"/>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sz="1350">
                    <a:solidFill>
                      <a:srgbClr val="333333"/>
                    </a:solidFill>
                  </a:rPr>
                  <a:t>Response r</a:t>
                </a:r>
              </a:p>
            </c:rich>
          </c:tx>
          <c:overlay val="0"/>
          <c:txPr>
            <a:bodyPr xmlns:a="http://schemas.openxmlformats.org/drawingml/2006/main" anchorCtr="1"/>
            <a:lstStyle xmlns:a="http://schemas.openxmlformats.org/drawingml/2006/main"/>
            <a:p xmlns:a="http://schemas.openxmlformats.org/drawingml/2006/main">
              <a:pPr>
                <a:defRPr sz="1350">
                  <a:solidFill>
                    <a:srgbClr val="333333"/>
                  </a:solidFill>
                </a:defRPr>
              </a:pPr>
            </a:p>
          </c:txPr>
        </c:title>
        <c:numFmt formatCode="0.00"/>
        <c:majorTickMark val="none"/>
        <c:minorTickMark val="none"/>
        <c:tickLblPos val="low"/>
        <c:spPr>
          <a:ln xmlns:a="http://schemas.openxmlformats.org/drawingml/2006/main" w="9525">
            <a:solidFill>
              <a:srgbClr val="666666"/>
            </a:solidFill>
          </a:ln>
        </c:spPr>
        <c:txPr>
          <a:bodyPr xmlns:a="http://schemas.openxmlformats.org/drawingml/2006/main" anchorCtr="1"/>
          <a:lstStyle xmlns:a="http://schemas.openxmlformats.org/drawingml/2006/main"/>
          <a:p xmlns:a="http://schemas.openxmlformats.org/drawingml/2006/main">
            <a:pPr>
              <a:defRPr sz="1275">
                <a:solidFill>
                  <a:srgbClr val="333333"/>
                </a:solidFill>
              </a:defRPr>
            </a:pPr>
          </a:p>
        </c:txPr>
        <c:crossAx val="48650112"/>
        <c:majorUnit val="0.25"/>
      </c:valAx>
      <c:valAx>
        <c:axId val="48650112"/>
        <c:scaling>
          <c:orientation val="minMax"/>
          <c:max val="1"/>
          <c:min val="-2.5"/>
        </c:scaling>
        <c:delete val="0"/>
        <c:axPos val="b"/>
        <c:title>
          <c:tx>
            <c:rich>
              <a:bodyPr xmlns:a="http://schemas.openxmlformats.org/drawingml/2006/main"/>
              <a:lstStyle xmlns:a="http://schemas.openxmlformats.org/drawingml/2006/main"/>
              <a:p xmlns:a="http://schemas.openxmlformats.org/drawingml/2006/main">
                <a:r>
                  <a:rPr sz="1350">
                    <a:solidFill>
                      <a:srgbClr val="333333"/>
                    </a:solidFill>
                  </a:rPr>
                  <a:t>Distance d (mm)</a:t>
                </a:r>
              </a:p>
            </c:rich>
          </c:tx>
          <c:overlay val="0"/>
          <c:txPr>
            <a:bodyPr xmlns:a="http://schemas.openxmlformats.org/drawingml/2006/main" anchorCtr="1"/>
            <a:lstStyle xmlns:a="http://schemas.openxmlformats.org/drawingml/2006/main"/>
            <a:p xmlns:a="http://schemas.openxmlformats.org/drawingml/2006/main">
              <a:pPr>
                <a:defRPr sz="1350">
                  <a:solidFill>
                    <a:srgbClr val="333333"/>
                  </a:solidFill>
                </a:defRPr>
              </a:pPr>
            </a:p>
          </c:txPr>
        </c:title>
        <c:numFmt formatCode="0.0"/>
        <c:majorTickMark val="none"/>
        <c:minorTickMark val="none"/>
        <c:spPr>
          <a:ln xmlns:a="http://schemas.openxmlformats.org/drawingml/2006/main" w="9525">
            <a:solidFill>
              <a:srgbClr val="666666"/>
            </a:solidFill>
          </a:ln>
        </c:spPr>
        <c:txPr>
          <a:bodyPr xmlns:a="http://schemas.openxmlformats.org/drawingml/2006/main" anchorCtr="1"/>
          <a:lstStyle xmlns:a="http://schemas.openxmlformats.org/drawingml/2006/main"/>
          <a:p xmlns:a="http://schemas.openxmlformats.org/drawingml/2006/main">
            <a:pPr>
              <a:defRPr sz="1275">
                <a:solidFill>
                  <a:srgbClr val="333333"/>
                </a:solidFill>
              </a:defRPr>
            </a:pPr>
          </a:p>
        </c:txPr>
        <c:crossAx val="48672768"/>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D8527F-FC05-4F71-8F1C-3A1F407C4C4F}"/>
              </a:ext>
            </a:extLst>
          </p:cNvPr>
          <p:cNvSpPr>
            <a:spLocks xmlns:a="http://schemas.openxmlformats.org/drawingml/2006/main" noGrp="1"/>
          </p:cNvSpPr>
          <p:nvPr/>
        </p:nvSpPr>
        <p:spPr>
          <a:xfrm xmlns:a="http://schemas.openxmlformats.org/drawingml/2006/main">
            <a:off x="876300" y="2162175"/>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00" b="1">
                <a:solidFill>
                  <a:srgbClr val="111111"/>
                </a:solidFill>
                <a:latin typeface="Aptos"/>
                <a:ea typeface="Aptos"/>
                <a:cs typeface="Aptos"/>
              </a:defRPr>
            </a:defPPr>
          </a:lstStyle>
          <a:p xmlns:a="http://schemas.openxmlformats.org/drawingml/2006/main">
            <a:pPr algn="l">
              <a:buNone/>
              <a:defRPr sz="3600" b="1">
                <a:solidFill>
                  <a:srgbClr val="111111"/>
                </a:solidFill>
                <a:latin typeface="Aptos"/>
                <a:ea typeface="Aptos"/>
                <a:cs typeface="Aptos"/>
              </a:defRPr>
            </a:pPr>
            <a:r>
              <a:rPr sz="3600" b="1">
                <a:solidFill>
                  <a:srgbClr val="111111"/>
                </a:solidFill>
                <a:latin typeface="Aptos"/>
                <a:ea typeface="Aptos"/>
                <a:cs typeface="Aptos"/>
              </a:rPr>
              <a:t>Weekly Progress</a:t>
            </a:r>
          </a:p>
        </p:txBody>
      </p:sp>
      <p:sp>
        <p:nvSpPr>
          <p:cNvPr id="2" name="">
            <a:extLst xmlns:a="http://schemas.openxmlformats.org/drawingml/2006/main">
              <a:ext uri="{FF2B5EF4-FFF2-40B4-BE49-F238E27FC236}">
                <a16:creationId xmlns:a16="http://schemas.microsoft.com/office/drawing/2014/main" id="{D62B12BD-393A-45F2-BEE9-036CD15B24CA}"/>
              </a:ext>
            </a:extLst>
          </p:cNvPr>
          <p:cNvSpPr>
            <a:spLocks xmlns:a="http://schemas.openxmlformats.org/drawingml/2006/main" noGrp="1"/>
          </p:cNvSpPr>
          <p:nvPr/>
        </p:nvSpPr>
        <p:spPr>
          <a:xfrm xmlns:a="http://schemas.openxmlformats.org/drawingml/2006/main">
            <a:off x="895350" y="30765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333333"/>
                </a:solidFill>
                <a:latin typeface="Aptos"/>
                <a:ea typeface="Aptos"/>
                <a:cs typeface="Aptos"/>
              </a:defRPr>
            </a:defPPr>
          </a:lstStyle>
          <a:p xmlns:a="http://schemas.openxmlformats.org/drawingml/2006/main">
            <a:pPr algn="l">
              <a:buNone/>
              <a:defRPr sz="2025" b="0">
                <a:solidFill>
                  <a:srgbClr val="333333"/>
                </a:solidFill>
                <a:latin typeface="Aptos"/>
                <a:ea typeface="Aptos"/>
                <a:cs typeface="Aptos"/>
              </a:defRPr>
            </a:pPr>
            <a:r>
              <a:rPr sz="2025" b="0">
                <a:solidFill>
                  <a:srgbClr val="333333"/>
                </a:solidFill>
                <a:latin typeface="Aptos"/>
                <a:ea typeface="Aptos"/>
                <a:cs typeface="Aptos"/>
              </a:rPr>
              <a:t>October 29, 2026</a:t>
            </a:r>
          </a:p>
        </p:txBody>
      </p:sp>
      <p:sp>
        <p:nvSpPr>
          <p:cNvPr id="3" name="">
            <a:extLst xmlns:a="http://schemas.openxmlformats.org/drawingml/2006/main">
              <a:ext uri="{FF2B5EF4-FFF2-40B4-BE49-F238E27FC236}">
                <a16:creationId xmlns:a16="http://schemas.microsoft.com/office/drawing/2014/main" id="{BDB8AD2A-E9A9-40F0-8819-580FA3567F87}"/>
              </a:ext>
            </a:extLst>
          </p:cNvPr>
          <p:cNvSpPr>
            <a:spLocks xmlns:a="http://schemas.openxmlformats.org/drawingml/2006/main" noGrp="1"/>
          </p:cNvSpPr>
          <p:nvPr/>
        </p:nvSpPr>
        <p:spPr>
          <a:xfrm xmlns:a="http://schemas.openxmlformats.org/drawingml/2006/main">
            <a:off x="895350" y="36195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333333"/>
                </a:solidFill>
                <a:latin typeface="Aptos"/>
                <a:ea typeface="Aptos"/>
                <a:cs typeface="Aptos"/>
              </a:defRPr>
            </a:defPPr>
          </a:lstStyle>
          <a:p xmlns:a="http://schemas.openxmlformats.org/drawingml/2006/main">
            <a:pPr algn="l">
              <a:buNone/>
              <a:defRPr sz="2025" b="0">
                <a:solidFill>
                  <a:srgbClr val="333333"/>
                </a:solidFill>
                <a:latin typeface="Aptos"/>
                <a:ea typeface="Aptos"/>
                <a:cs typeface="Aptos"/>
              </a:defRPr>
            </a:pPr>
            <a:r>
              <a:rPr sz="2025" b="0">
                <a:solidFill>
                  <a:srgbClr val="333333"/>
                </a:solidFill>
                <a:latin typeface="Aptos"/>
                <a:ea typeface="Aptos"/>
                <a:cs typeface="Aptos"/>
              </a:rPr>
              <a:t>Yuchao Shen</a:t>
            </a:r>
          </a:p>
        </p:txBody>
      </p:sp>
    </p:spTree>
    <p:extLst>
      <p:ext uri="{BB962C8B-B14F-4D97-AF65-F5344CB8AC3E}">
        <p14:creationId xmlns:p14="http://schemas.microsoft.com/office/powerpoint/2010/main" val="10254038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Independent ball grasps in mjlab</a:t>
            </a:r>
          </a:p>
        </p:txBody>
      </p:sp>
      <p:pic>
        <p:nvPicPr>
          <p:cNvPr id="2" name="">
            <a:extLst xmlns:a="http://schemas.openxmlformats.org/drawingml/2006/main">
              <a:ext uri="{FF2B5EF4-FFF2-40B4-BE49-F238E27FC236}">
                <a16:creationId xmlns:a16="http://schemas.microsoft.com/office/drawing/2014/main" id="{9AF32522-A6EB-4A46-B486-F783C9BD86B4}"/>
              </a:ext>
            </a:extLst>
          </p:cNvPr>
          <p:cNvPicPr>
            <a:picLocks xmlns:a="http://schemas.openxmlformats.org/drawingml/2006/main" noChangeAspect="1"/>
          </p:cNvPicPr>
          <p:nvPr/>
        </p:nvPicPr>
        <p:blipFill>
          <a:blip xmlns:r="http://schemas.openxmlformats.org/officeDocument/2006/relationships" xmlns:a="http://schemas.openxmlformats.org/drawingml/2006/main" r:embed="R6536dc1985c343e8"/>
          <a:srcRect xmlns:a="http://schemas.openxmlformats.org/drawingml/2006/main" l="0" t="0" r="0" b="0"/>
          <a:stretch xmlns:a="http://schemas.openxmlformats.org/drawingml/2006/main"/>
        </p:blipFill>
        <p:spPr>
          <a:xfrm xmlns:a="http://schemas.openxmlformats.org/drawingml/2006/main">
            <a:off x="1786631" y="1200150"/>
            <a:ext cx="5246888"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The complete Sunday A1 model runs with independent left and right grippers.</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Each hand holds a separate 28 mm, 40 g free ball. Contact and friction support the grasp.</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Both hands have separate reset, release and XYZ ball offsets. The complete scene has eight tactile arrays.</a:t>
            </a:r>
          </a:p>
        </p:txBody>
      </p:sp>
      <p:sp>
        <p:nvSpPr>
          <p:cNvPr id="7" name="">
            <a:extLst xmlns:a="http://schemas.openxmlformats.org/drawingml/2006/main">
              <a:ext uri="{FF2B5EF4-FFF2-40B4-BE49-F238E27FC236}">
                <a16:creationId xmlns:a16="http://schemas.microsoft.com/office/drawing/2014/main" id="{ED0370CF-8483-4F29-A967-9592F06C353D}"/>
              </a:ext>
            </a:extLst>
          </p:cNvPr>
          <p:cNvSpPr>
            <a:spLocks xmlns:a="http://schemas.openxmlformats.org/drawingml/2006/main" noGrp="1"/>
          </p:cNvSpPr>
          <p:nvPr/>
        </p:nvSpPr>
        <p:spPr>
          <a:xfrm xmlns:a="http://schemas.openxmlformats.org/drawingml/2006/main">
            <a:off x="590550" y="6267450"/>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333333"/>
                </a:solidFill>
                <a:latin typeface="Aptos"/>
                <a:ea typeface="Aptos"/>
                <a:cs typeface="Aptos"/>
              </a:defRPr>
            </a:defPPr>
          </a:lstStyle>
          <a:p xmlns:a="http://schemas.openxmlformats.org/drawingml/2006/main">
            <a:pPr algn="l">
              <a:defRPr sz="1350" b="0">
                <a:solidFill>
                  <a:srgbClr val="333333"/>
                </a:solidFill>
                <a:latin typeface="Aptos"/>
                <a:ea typeface="Aptos"/>
                <a:cs typeface="Aptos"/>
              </a:defRPr>
            </a:pPr>
            <a:r>
              <a:rPr sz="1350" b="0">
                <a:solidFill>
                  <a:srgbClr val="333333"/>
                </a:solidFill>
                <a:latin typeface="Aptos"/>
                <a:ea typeface="Aptos"/>
                <a:cs typeface="Aptos"/>
              </a:rPr>
              <a:t>Development screenshot of the dual-grasp controls, before the foot arrays joined the interface.</a:t>
            </a:r>
          </a:p>
        </p:txBody>
      </p:sp>
    </p:spTree>
    <p:extLst>
      <p:ext uri="{BB962C8B-B14F-4D97-AF65-F5344CB8AC3E}">
        <p14:creationId xmlns:p14="http://schemas.microsoft.com/office/powerpoint/2010/main" val="886803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Native MuJoCo model preview</a:t>
            </a:r>
          </a:p>
        </p:txBody>
      </p:sp>
      <p:pic>
        <p:nvPicPr>
          <p:cNvPr id="2" name="Embedded recording 1" descr="Embedded video 1, click to play">
            <a:extLst xmlns:a="http://schemas.openxmlformats.org/drawingml/2006/main">
              <a:ext uri="{FF2B5EF4-FFF2-40B4-BE49-F238E27FC236}">
                <a16:creationId xmlns:a16="http://schemas.microsoft.com/office/drawing/2014/main" id="{9AF32522-A6EB-4A46-B486-F783C9BD86B4}"/>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EmbeddedVideo1"/>
            <p:extLst>
              <p:ext uri="{DAA4B4D4-6D71-4841-9C94-3DE7FCFB9230}">
                <p14:media xmlns:p14="http://schemas.microsoft.com/office/powerpoint/2010/main" xmlns:ns3="http://schemas.openxmlformats.org/officeDocument/2006/relationships" ns3:embed="rIdEmbeddedMedia1"/>
              </p:ext>
            </p:extLst>
          </p:nvPr>
        </p:nvPicPr>
        <p:blipFill>
          <a:blip xmlns:r="http://schemas.openxmlformats.org/officeDocument/2006/relationships" xmlns:a="http://schemas.openxmlformats.org/drawingml/2006/main" r:embed="Rcf2da403138e4605"/>
          <a:srcRect xmlns:a="http://schemas.openxmlformats.org/drawingml/2006/main" l="0" t="0" r="0" b="0"/>
          <a:stretch xmlns:a="http://schemas.openxmlformats.org/drawingml/2006/main"/>
        </p:blipFill>
        <p:spPr>
          <a:xfrm xmlns:a="http://schemas.openxmlformats.org/drawingml/2006/main">
            <a:off x="590550" y="1535043"/>
            <a:ext cx="7639050" cy="451181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The native viewer provides a direct check of the imported robot model and joint structure.</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This recording shows the basic model preview. The complete ball and tactile interface uses a separate scene.</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14.5 s recording.</a:t>
            </a:r>
          </a:p>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Click the video during the slide show to play.</a:t>
            </a:r>
          </a:p>
        </p:txBody>
      </p:sp>
    </p:spTree>
    <p:extLst>
      <p:ext uri="{BB962C8B-B14F-4D97-AF65-F5344CB8AC3E}">
        <p14:creationId xmlns:p14="http://schemas.microsoft.com/office/powerpoint/2010/main" val="886803040"/>
      </p:ext>
    </p:extLst>
  </p:cSld>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Taxel grids and moving coordinate frames</a:t>
            </a:r>
          </a:p>
        </p:txBody>
      </p:sp>
      <p:sp>
        <p:nvSpPr>
          <p:cNvPr id="7" name="">
            <a:extLst xmlns:a="http://schemas.openxmlformats.org/drawingml/2006/main">
              <a:ext uri="{FF2B5EF4-FFF2-40B4-BE49-F238E27FC236}">
                <a16:creationId xmlns:a16="http://schemas.microsoft.com/office/drawing/2014/main" id="{587CF4DE-E564-44BB-A51C-57B5DC23DD70}"/>
              </a:ext>
            </a:extLst>
          </p:cNvPr>
          <p:cNvSpPr>
            <a:spLocks xmlns:a="http://schemas.openxmlformats.org/drawingml/2006/main" noGrp="1"/>
          </p:cNvSpPr>
          <p:nvPr/>
        </p:nvSpPr>
        <p:spPr>
          <a:xfrm xmlns:a="http://schemas.openxmlformats.org/drawingml/2006/main">
            <a:off x="590550" y="1362075"/>
            <a:ext cx="1102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1. Place a regular grid on each rigid sensor patch</a:t>
            </a:r>
          </a:p>
        </p:txBody>
      </p:sp>
      <p:sp>
        <p:nvSpPr>
          <p:cNvPr id="8" name="">
            <a:extLst xmlns:a="http://schemas.openxmlformats.org/drawingml/2006/main">
              <a:ext uri="{FF2B5EF4-FFF2-40B4-BE49-F238E27FC236}">
                <a16:creationId xmlns:a16="http://schemas.microsoft.com/office/drawing/2014/main" id="{1DCF8140-E9AD-49CD-BDBA-465C25A836C3}"/>
              </a:ext>
            </a:extLst>
          </p:cNvPr>
          <p:cNvSpPr>
            <a:spLocks xmlns:a="http://schemas.openxmlformats.org/drawingml/2006/main" noGrp="1"/>
          </p:cNvSpPr>
          <p:nvPr/>
        </p:nvSpPr>
        <p:spPr>
          <a:xfrm xmlns:a="http://schemas.openxmlformats.org/drawingml/2006/main">
            <a:off x="876300" y="19431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333333"/>
                </a:solidFill>
                <a:latin typeface="Aptos"/>
                <a:ea typeface="Aptos"/>
                <a:cs typeface="Aptos"/>
              </a:defRPr>
            </a:defPPr>
          </a:lstStyle>
          <a:p xmlns:a="http://schemas.openxmlformats.org/drawingml/2006/main">
            <a:pPr algn="l">
              <a:defRPr sz="2175" b="0">
                <a:solidFill>
                  <a:srgbClr val="333333"/>
                </a:solidFill>
                <a:latin typeface="Aptos"/>
                <a:ea typeface="Aptos"/>
                <a:cs typeface="Aptos"/>
              </a:defRPr>
            </a:pPr>
            <a:r>
              <a:rPr sz="2175" b="0">
                <a:solidFill>
                  <a:srgbClr val="333333"/>
                </a:solidFill>
                <a:latin typeface="Aptos"/>
                <a:ea typeface="Aptos"/>
                <a:cs typeface="Aptos"/>
              </a:rPr>
              <a:t>pᵢⱼ = c + (i − (M − 1)/2) Δ e₁ + (j − (N − 1)/2) Δ e₂</a:t>
            </a:r>
          </a:p>
        </p:txBody>
      </p:sp>
      <p:sp>
        <p:nvSpPr>
          <p:cNvPr id="9" name="">
            <a:extLst xmlns:a="http://schemas.openxmlformats.org/drawingml/2006/main">
              <a:ext uri="{FF2B5EF4-FFF2-40B4-BE49-F238E27FC236}">
                <a16:creationId xmlns:a16="http://schemas.microsoft.com/office/drawing/2014/main" id="{39D9DA95-2CBA-4A2C-9B65-85281A7420C5}"/>
              </a:ext>
            </a:extLst>
          </p:cNvPr>
          <p:cNvSpPr>
            <a:spLocks xmlns:a="http://schemas.openxmlformats.org/drawingml/2006/main" noGrp="1"/>
          </p:cNvSpPr>
          <p:nvPr/>
        </p:nvSpPr>
        <p:spPr>
          <a:xfrm xmlns:a="http://schemas.openxmlformats.org/drawingml/2006/main">
            <a:off x="876300" y="2571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defRPr sz="1500" b="0">
                <a:solidFill>
                  <a:srgbClr val="333333"/>
                </a:solidFill>
                <a:latin typeface="Aptos"/>
                <a:ea typeface="Aptos"/>
                <a:cs typeface="Aptos"/>
              </a:defRPr>
            </a:pPr>
            <a:r>
              <a:rPr sz="1500" b="0">
                <a:solidFill>
                  <a:srgbClr val="333333"/>
                </a:solidFill>
                <a:latin typeface="Aptos"/>
                <a:ea typeface="Aptos"/>
                <a:cs typeface="Aptos"/>
              </a:rPr>
              <a:t>c: patch center    Δ: taxel pitch    e₁, e₂: tangent directions    i = 0…M−1, j = 0…N−1</a:t>
            </a:r>
          </a:p>
        </p:txBody>
      </p:sp>
      <p:sp>
        <p:nvSpPr>
          <p:cNvPr id="10" name="">
            <a:extLst xmlns:a="http://schemas.openxmlformats.org/drawingml/2006/main">
              <a:ext uri="{FF2B5EF4-FFF2-40B4-BE49-F238E27FC236}">
                <a16:creationId xmlns:a16="http://schemas.microsoft.com/office/drawing/2014/main" id="{0879E6DB-B15D-45F1-8680-8F0BFCAE6890}"/>
              </a:ext>
            </a:extLst>
          </p:cNvPr>
          <p:cNvSpPr>
            <a:spLocks xmlns:a="http://schemas.openxmlformats.org/drawingml/2006/main" noGrp="1"/>
          </p:cNvSpPr>
          <p:nvPr/>
        </p:nvSpPr>
        <p:spPr>
          <a:xfrm xmlns:a="http://schemas.openxmlformats.org/drawingml/2006/main">
            <a:off x="590550" y="3352800"/>
            <a:ext cx="1102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2. Follow the sensor body, then query in the target geometry frame</a:t>
            </a:r>
          </a:p>
        </p:txBody>
      </p:sp>
      <p:sp>
        <p:nvSpPr>
          <p:cNvPr id="11" name="">
            <a:extLst xmlns:a="http://schemas.openxmlformats.org/drawingml/2006/main">
              <a:ext uri="{FF2B5EF4-FFF2-40B4-BE49-F238E27FC236}">
                <a16:creationId xmlns:a16="http://schemas.microsoft.com/office/drawing/2014/main" id="{A647838E-F772-4FA0-80D4-33BB8FD980F5}"/>
              </a:ext>
            </a:extLst>
          </p:cNvPr>
          <p:cNvSpPr>
            <a:spLocks xmlns:a="http://schemas.openxmlformats.org/drawingml/2006/main" noGrp="1"/>
          </p:cNvSpPr>
          <p:nvPr/>
        </p:nvSpPr>
        <p:spPr>
          <a:xfrm xmlns:a="http://schemas.openxmlformats.org/drawingml/2006/main">
            <a:off x="876300" y="39243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333333"/>
                </a:solidFill>
                <a:latin typeface="Aptos"/>
                <a:ea typeface="Aptos"/>
                <a:cs typeface="Aptos"/>
              </a:defRPr>
            </a:defPPr>
          </a:lstStyle>
          <a:p xmlns:a="http://schemas.openxmlformats.org/drawingml/2006/main">
            <a:pPr algn="l">
              <a:defRPr sz="2250" b="0">
                <a:solidFill>
                  <a:srgbClr val="333333"/>
                </a:solidFill>
                <a:latin typeface="Aptos"/>
                <a:ea typeface="Aptos"/>
                <a:cs typeface="Aptos"/>
              </a:defRPr>
            </a:pPr>
            <a:r>
              <a:rPr sz="2250" b="0">
                <a:solidFill>
                  <a:srgbClr val="333333"/>
                </a:solidFill>
                <a:latin typeface="Aptos"/>
                <a:ea typeface="Aptos"/>
                <a:cs typeface="Aptos"/>
              </a:rPr>
              <a:t>pᵂ = xᴮ + Rᴮ pᵢⱼ                    q = (Rᴳ)ᵀ (pᵂ − xᴳ)</a:t>
            </a:r>
          </a:p>
        </p:txBody>
      </p:sp>
      <p:sp>
        <p:nvSpPr>
          <p:cNvPr id="12" name="">
            <a:extLst xmlns:a="http://schemas.openxmlformats.org/drawingml/2006/main">
              <a:ext uri="{FF2B5EF4-FFF2-40B4-BE49-F238E27FC236}">
                <a16:creationId xmlns:a16="http://schemas.microsoft.com/office/drawing/2014/main" id="{5897F3DB-3FF2-41F4-A73A-6C7196839BAD}"/>
              </a:ext>
            </a:extLst>
          </p:cNvPr>
          <p:cNvSpPr>
            <a:spLocks xmlns:a="http://schemas.openxmlformats.org/drawingml/2006/main" noGrp="1"/>
          </p:cNvSpPr>
          <p:nvPr/>
        </p:nvSpPr>
        <p:spPr>
          <a:xfrm xmlns:a="http://schemas.openxmlformats.org/drawingml/2006/main">
            <a:off x="876300" y="4572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defRPr sz="1500" b="0">
                <a:solidFill>
                  <a:srgbClr val="333333"/>
                </a:solidFill>
                <a:latin typeface="Aptos"/>
                <a:ea typeface="Aptos"/>
                <a:cs typeface="Aptos"/>
              </a:defRPr>
            </a:pPr>
            <a:r>
              <a:rPr sz="1500" b="0">
                <a:solidFill>
                  <a:srgbClr val="333333"/>
                </a:solidFill>
                <a:latin typeface="Aptos"/>
                <a:ea typeface="Aptos"/>
                <a:cs typeface="Aptos"/>
              </a:rPr>
              <a:t>xᴮ, Rᴮ: current body pose    xᴳ, Rᴳ: current target geometry pose    W: world frame</a:t>
            </a:r>
          </a:p>
        </p:txBody>
      </p:sp>
      <p:sp>
        <p:nvSpPr>
          <p:cNvPr id="13" name="">
            <a:extLst xmlns:a="http://schemas.openxmlformats.org/drawingml/2006/main">
              <a:ext uri="{FF2B5EF4-FFF2-40B4-BE49-F238E27FC236}">
                <a16:creationId xmlns:a16="http://schemas.microsoft.com/office/drawing/2014/main" id="{087BF799-0480-4F64-8368-501C5859FAF0}"/>
              </a:ext>
            </a:extLst>
          </p:cNvPr>
          <p:cNvSpPr>
            <a:spLocks xmlns:a="http://schemas.openxmlformats.org/drawingml/2006/main" noGrp="1"/>
          </p:cNvSpPr>
          <p:nvPr/>
        </p:nvSpPr>
        <p:spPr>
          <a:xfrm xmlns:a="http://schemas.openxmlformats.org/drawingml/2006/main">
            <a:off x="590550" y="5429250"/>
            <a:ext cx="1102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Hands: M × N = 12 × 32, Δ = 2 mm.  Feet: 32 × 32, Δ = 2.5 mm.</a:t>
            </a:r>
          </a:p>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The same sampling engine updates every patch as its body moves.</a:t>
            </a:r>
          </a:p>
        </p:txBody>
      </p:sp>
    </p:spTree>
    <p:extLst>
      <p:ext uri="{BB962C8B-B14F-4D97-AF65-F5344CB8AC3E}">
        <p14:creationId xmlns:p14="http://schemas.microsoft.com/office/powerpoint/2010/main" val="886803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Nearest-surface distance at each taxel</a:t>
            </a:r>
          </a:p>
        </p:txBody>
      </p:sp>
      <p:sp>
        <p:nvSpPr>
          <p:cNvPr id="7" name="">
            <a:extLst xmlns:a="http://schemas.openxmlformats.org/drawingml/2006/main">
              <a:ext uri="{FF2B5EF4-FFF2-40B4-BE49-F238E27FC236}">
                <a16:creationId xmlns:a16="http://schemas.microsoft.com/office/drawing/2014/main" id="{A0E5D77F-B9A8-4E84-993C-57BE896E8F3C}"/>
              </a:ext>
            </a:extLst>
          </p:cNvPr>
          <p:cNvSpPr>
            <a:spLocks xmlns:a="http://schemas.openxmlformats.org/drawingml/2006/main" noGrp="1"/>
          </p:cNvSpPr>
          <p:nvPr/>
        </p:nvSpPr>
        <p:spPr>
          <a:xfrm xmlns:a="http://schemas.openxmlformats.org/drawingml/2006/main">
            <a:off x="590550" y="13716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Triangle mesh</a:t>
            </a:r>
          </a:p>
        </p:txBody>
      </p:sp>
      <p:sp>
        <p:nvSpPr>
          <p:cNvPr id="8" name="">
            <a:extLst xmlns:a="http://schemas.openxmlformats.org/drawingml/2006/main">
              <a:ext uri="{FF2B5EF4-FFF2-40B4-BE49-F238E27FC236}">
                <a16:creationId xmlns:a16="http://schemas.microsoft.com/office/drawing/2014/main" id="{4A451B08-2F5A-4F14-B558-E3DAB6CF7054}"/>
              </a:ext>
            </a:extLst>
          </p:cNvPr>
          <p:cNvSpPr>
            <a:spLocks xmlns:a="http://schemas.openxmlformats.org/drawingml/2006/main" noGrp="1"/>
          </p:cNvSpPr>
          <p:nvPr/>
        </p:nvSpPr>
        <p:spPr>
          <a:xfrm xmlns:a="http://schemas.openxmlformats.org/drawingml/2006/main">
            <a:off x="876300" y="1885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333333"/>
                </a:solidFill>
                <a:latin typeface="Aptos"/>
                <a:ea typeface="Aptos"/>
                <a:cs typeface="Aptos"/>
              </a:defRPr>
            </a:defPPr>
          </a:lstStyle>
          <a:p xmlns:a="http://schemas.openxmlformats.org/drawingml/2006/main">
            <a:pPr algn="l">
              <a:defRPr sz="2250" b="0">
                <a:solidFill>
                  <a:srgbClr val="333333"/>
                </a:solidFill>
                <a:latin typeface="Aptos"/>
                <a:ea typeface="Aptos"/>
                <a:cs typeface="Aptos"/>
              </a:defRPr>
            </a:pPr>
            <a:r>
              <a:rPr sz="2250" b="0">
                <a:solidFill>
                  <a:srgbClr val="333333"/>
                </a:solidFill>
                <a:latin typeface="Aptos"/>
                <a:ea typeface="Aptos"/>
                <a:cs typeface="Aptos"/>
              </a:rPr>
              <a:t>q* = arg minₛ∈S ‖q − s‖₂                    d = ‖q − q*‖₂</a:t>
            </a:r>
          </a:p>
        </p:txBody>
      </p:sp>
      <p:sp>
        <p:nvSpPr>
          <p:cNvPr id="9" name="">
            <a:extLst xmlns:a="http://schemas.openxmlformats.org/drawingml/2006/main">
              <a:ext uri="{FF2B5EF4-FFF2-40B4-BE49-F238E27FC236}">
                <a16:creationId xmlns:a16="http://schemas.microsoft.com/office/drawing/2014/main" id="{B58138CC-E7E5-479E-8EE3-E8584A7301B0}"/>
              </a:ext>
            </a:extLst>
          </p:cNvPr>
          <p:cNvSpPr>
            <a:spLocks xmlns:a="http://schemas.openxmlformats.org/drawingml/2006/main" noGrp="1"/>
          </p:cNvSpPr>
          <p:nvPr/>
        </p:nvSpPr>
        <p:spPr>
          <a:xfrm xmlns:a="http://schemas.openxmlformats.org/drawingml/2006/main">
            <a:off x="876300" y="25336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Warp finds the nearest triangle and its barycentric point.</a:t>
            </a:r>
          </a:p>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This port uses unsigned mesh distance. Mesh interiors do not get a negative sign.</a:t>
            </a:r>
          </a:p>
        </p:txBody>
      </p:sp>
      <p:sp>
        <p:nvSpPr>
          <p:cNvPr id="10" name="">
            <a:extLst xmlns:a="http://schemas.openxmlformats.org/drawingml/2006/main">
              <a:ext uri="{FF2B5EF4-FFF2-40B4-BE49-F238E27FC236}">
                <a16:creationId xmlns:a16="http://schemas.microsoft.com/office/drawing/2014/main" id="{DC6A9F54-B13D-4B0A-BDFE-AD40EEF933EB}"/>
              </a:ext>
            </a:extLst>
          </p:cNvPr>
          <p:cNvSpPr>
            <a:spLocks xmlns:a="http://schemas.openxmlformats.org/drawingml/2006/main" noGrp="1"/>
          </p:cNvSpPr>
          <p:nvPr/>
        </p:nvSpPr>
        <p:spPr>
          <a:xfrm xmlns:a="http://schemas.openxmlformats.org/drawingml/2006/main">
            <a:off x="590550" y="3524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Analytic scene geometry</a:t>
            </a:r>
          </a:p>
        </p:txBody>
      </p:sp>
      <p:sp>
        <p:nvSpPr>
          <p:cNvPr id="11" name="">
            <a:extLst xmlns:a="http://schemas.openxmlformats.org/drawingml/2006/main">
              <a:ext uri="{FF2B5EF4-FFF2-40B4-BE49-F238E27FC236}">
                <a16:creationId xmlns:a16="http://schemas.microsoft.com/office/drawing/2014/main" id="{B5899532-33BD-44FD-9532-2C31EEFE6009}"/>
              </a:ext>
            </a:extLst>
          </p:cNvPr>
          <p:cNvSpPr>
            <a:spLocks xmlns:a="http://schemas.openxmlformats.org/drawingml/2006/main" noGrp="1"/>
          </p:cNvSpPr>
          <p:nvPr/>
        </p:nvSpPr>
        <p:spPr>
          <a:xfrm xmlns:a="http://schemas.openxmlformats.org/drawingml/2006/main">
            <a:off x="876300" y="4038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333333"/>
                </a:solidFill>
                <a:latin typeface="Aptos"/>
                <a:ea typeface="Aptos"/>
                <a:cs typeface="Aptos"/>
              </a:defRPr>
            </a:defPPr>
          </a:lstStyle>
          <a:p xmlns:a="http://schemas.openxmlformats.org/drawingml/2006/main">
            <a:pPr algn="l">
              <a:defRPr sz="2250" b="0">
                <a:solidFill>
                  <a:srgbClr val="333333"/>
                </a:solidFill>
                <a:latin typeface="Aptos"/>
                <a:ea typeface="Aptos"/>
                <a:cs typeface="Aptos"/>
              </a:defRPr>
            </a:pPr>
            <a:r>
              <a:rPr sz="2250" b="0">
                <a:solidFill>
                  <a:srgbClr val="333333"/>
                </a:solidFill>
                <a:latin typeface="Aptos"/>
                <a:ea typeface="Aptos"/>
                <a:cs typeface="Aptos"/>
              </a:rPr>
              <a:t>Sphere: d = ‖q‖₂ − radius                 Plane: d = q · (0, 0, 1)</a:t>
            </a:r>
          </a:p>
        </p:txBody>
      </p:sp>
      <p:sp>
        <p:nvSpPr>
          <p:cNvPr id="12" name="">
            <a:extLst xmlns:a="http://schemas.openxmlformats.org/drawingml/2006/main">
              <a:ext uri="{FF2B5EF4-FFF2-40B4-BE49-F238E27FC236}">
                <a16:creationId xmlns:a16="http://schemas.microsoft.com/office/drawing/2014/main" id="{C1D69572-56FE-4667-A382-8990F3E5FB12}"/>
              </a:ext>
            </a:extLst>
          </p:cNvPr>
          <p:cNvSpPr>
            <a:spLocks xmlns:a="http://schemas.openxmlformats.org/drawingml/2006/main" noGrp="1"/>
          </p:cNvSpPr>
          <p:nvPr/>
        </p:nvSpPr>
        <p:spPr>
          <a:xfrm xmlns:a="http://schemas.openxmlformats.org/drawingml/2006/main">
            <a:off x="87630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333333"/>
                </a:solidFill>
                <a:latin typeface="Aptos"/>
                <a:ea typeface="Aptos"/>
                <a:cs typeface="Aptos"/>
              </a:defRPr>
            </a:defPPr>
          </a:lstStyle>
          <a:p xmlns:a="http://schemas.openxmlformats.org/drawingml/2006/main">
            <a:pPr algn="l">
              <a:defRPr sz="2025" b="0">
                <a:solidFill>
                  <a:srgbClr val="333333"/>
                </a:solidFill>
                <a:latin typeface="Aptos"/>
                <a:ea typeface="Aptos"/>
                <a:cs typeface="Aptos"/>
              </a:defRPr>
            </a:pPr>
            <a:r>
              <a:rPr sz="2025" b="0">
                <a:solidFill>
                  <a:srgbClr val="333333"/>
                </a:solidFill>
                <a:latin typeface="Aptos"/>
                <a:ea typeface="Aptos"/>
                <a:cs typeface="Aptos"/>
              </a:rPr>
              <a:t>For each taxel:  d = min {distance to each eligible target}</a:t>
            </a:r>
          </a:p>
        </p:txBody>
      </p:sp>
      <p:sp>
        <p:nvSpPr>
          <p:cNvPr id="13" name="">
            <a:extLst xmlns:a="http://schemas.openxmlformats.org/drawingml/2006/main">
              <a:ext uri="{FF2B5EF4-FFF2-40B4-BE49-F238E27FC236}">
                <a16:creationId xmlns:a16="http://schemas.microsoft.com/office/drawing/2014/main" id="{E7282643-D076-4790-B22A-0C49F5EA761B}"/>
              </a:ext>
            </a:extLst>
          </p:cNvPr>
          <p:cNvSpPr>
            <a:spLocks xmlns:a="http://schemas.openxmlformats.org/drawingml/2006/main" noGrp="1"/>
          </p:cNvSpPr>
          <p:nvPr/>
        </p:nvSpPr>
        <p:spPr>
          <a:xfrm xmlns:a="http://schemas.openxmlformats.org/drawingml/2006/main">
            <a:off x="590550" y="5562600"/>
            <a:ext cx="11029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Signed analytic distances are negative inside an object. Candidates include supported objects</a:t>
            </a:r>
          </a:p>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and opposing fingers, so closing an empty gripper can still generate a response.</a:t>
            </a:r>
          </a:p>
        </p:txBody>
      </p:sp>
    </p:spTree>
    <p:extLst>
      <p:ext uri="{BB962C8B-B14F-4D97-AF65-F5344CB8AC3E}">
        <p14:creationId xmlns:p14="http://schemas.microsoft.com/office/powerpoint/2010/main" val="8868030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Finger response: the 1.5 mm shell</a:t>
            </a:r>
          </a:p>
        </p:txBody>
      </p:sp>
      <p:sp>
        <p:nvSpPr>
          <p:cNvPr id="7" name="">
            <a:extLst xmlns:a="http://schemas.openxmlformats.org/drawingml/2006/main">
              <a:ext uri="{FF2B5EF4-FFF2-40B4-BE49-F238E27FC236}">
                <a16:creationId xmlns:a16="http://schemas.microsoft.com/office/drawing/2014/main" id="{F93A95ED-8C5B-4DE6-8F0F-38F488809795}"/>
              </a:ext>
            </a:extLst>
          </p:cNvPr>
          <p:cNvSpPr>
            <a:spLocks xmlns:a="http://schemas.openxmlformats.org/drawingml/2006/main" noGrp="1"/>
          </p:cNvSpPr>
          <p:nvPr/>
        </p:nvSpPr>
        <p:spPr>
          <a:xfrm xmlns:a="http://schemas.openxmlformats.org/drawingml/2006/main">
            <a:off x="590550" y="1371600"/>
            <a:ext cx="1102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a:solidFill>
                  <a:srgbClr val="333333"/>
                </a:solidFill>
                <a:latin typeface="Aptos"/>
                <a:ea typeface="Aptos"/>
                <a:cs typeface="Aptos"/>
              </a:defRPr>
            </a:defPPr>
          </a:lstStyle>
          <a:p xmlns:a="http://schemas.openxmlformats.org/drawingml/2006/main">
            <a:pPr algn="l">
              <a:defRPr sz="2400" b="0">
                <a:solidFill>
                  <a:srgbClr val="333333"/>
                </a:solidFill>
                <a:latin typeface="Aptos"/>
                <a:ea typeface="Aptos"/>
                <a:cs typeface="Aptos"/>
              </a:defRPr>
            </a:pPr>
            <a:r>
              <a:rPr sz="2400" b="0">
                <a:solidFill>
                  <a:srgbClr val="333333"/>
                </a:solidFill>
                <a:latin typeface="Aptos"/>
                <a:ea typeface="Aptos"/>
                <a:cs typeface="Aptos"/>
              </a:rPr>
              <a:t>r = clip( k max(h − d, 0) / s, 0, 1 )</a:t>
            </a:r>
          </a:p>
        </p:txBody>
      </p:sp>
      <p:sp>
        <p:nvSpPr>
          <p:cNvPr id="8" name="">
            <a:extLst xmlns:a="http://schemas.openxmlformats.org/drawingml/2006/main">
              <a:ext uri="{FF2B5EF4-FFF2-40B4-BE49-F238E27FC236}">
                <a16:creationId xmlns:a16="http://schemas.microsoft.com/office/drawing/2014/main" id="{C9FEB434-C771-49BD-89DE-B0C03D839D4F}"/>
              </a:ext>
            </a:extLst>
          </p:cNvPr>
          <p:cNvSpPr>
            <a:spLocks xmlns:a="http://schemas.openxmlformats.org/drawingml/2006/main" noGrp="1"/>
          </p:cNvSpPr>
          <p:nvPr/>
        </p:nvSpPr>
        <p:spPr>
          <a:xfrm xmlns:a="http://schemas.openxmlformats.org/drawingml/2006/main">
            <a:off x="590550" y="2076450"/>
            <a:ext cx="11029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h = 0.0015 m     k = 5000     s = 2.4     d in meters</a:t>
            </a:r>
          </a:p>
        </p:txBody>
      </p:sp>
      <p:graphicFrame>
        <p:nvGraphicFramePr>
          <p:cNvPr id="9" name="Chart">
            <a:extLst xmlns:a="http://schemas.openxmlformats.org/drawingml/2006/main">
              <a:ext uri="{FF2B5EF4-FFF2-40B4-BE49-F238E27FC236}">
                <a16:creationId xmlns:a16="http://schemas.microsoft.com/office/drawing/2014/main" id="{DC01411D-1389-4FCB-91DE-6373F983E7FC}"/>
              </a:ext>
            </a:extLst>
          </p:cNvPr>
          <p:cNvGraphicFramePr/>
          <p:nvPr/>
        </p:nvGraphicFramePr>
        <p:xfrm>
          <a:off xmlns:a="http://schemas.openxmlformats.org/drawingml/2006/main" x="590550" y="3028950"/>
          <a:ext xmlns:a="http://schemas.openxmlformats.org/drawingml/2006/main" cx="6667500" cy="2857500"/>
        </p:xfrm>
        <a:graphic xmlns:a="http://schemas.openxmlformats.org/drawingml/2006/main">
          <a:graphicData uri="http://schemas.openxmlformats.org/drawingml/2006/chart">
            <c:chart xmlns:r="http://schemas.openxmlformats.org/officeDocument/2006/relationships" xmlns:c="http://schemas.openxmlformats.org/drawingml/2006/chart" r:id="Rd066bc2a68684af3"/>
          </a:graphicData>
        </a:graphic>
      </p:graphicFrame>
      <p:sp>
        <p:nvSpPr>
          <p:cNvPr id="10" name="">
            <a:extLst xmlns:a="http://schemas.openxmlformats.org/drawingml/2006/main">
              <a:ext uri="{FF2B5EF4-FFF2-40B4-BE49-F238E27FC236}">
                <a16:creationId xmlns:a16="http://schemas.microsoft.com/office/drawing/2014/main" id="{5C1763E2-8746-477F-848C-5CA94F437749}"/>
              </a:ext>
            </a:extLst>
          </p:cNvPr>
          <p:cNvSpPr>
            <a:spLocks xmlns:a="http://schemas.openxmlformats.org/drawingml/2006/main" noGrp="1"/>
          </p:cNvSpPr>
          <p:nvPr/>
        </p:nvSpPr>
        <p:spPr>
          <a:xfrm xmlns:a="http://schemas.openxmlformats.org/drawingml/2006/main">
            <a:off x="7791450" y="31813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Example: d = 1.2 mm</a:t>
            </a:r>
          </a:p>
        </p:txBody>
      </p:sp>
      <p:sp>
        <p:nvSpPr>
          <p:cNvPr id="11" name="">
            <a:extLst xmlns:a="http://schemas.openxmlformats.org/drawingml/2006/main">
              <a:ext uri="{FF2B5EF4-FFF2-40B4-BE49-F238E27FC236}">
                <a16:creationId xmlns:a16="http://schemas.microsoft.com/office/drawing/2014/main" id="{57A0E72B-F6BE-44BF-A9FB-0B1D2C7BBC2C}"/>
              </a:ext>
            </a:extLst>
          </p:cNvPr>
          <p:cNvSpPr>
            <a:spLocks xmlns:a="http://schemas.openxmlformats.org/drawingml/2006/main" noGrp="1"/>
          </p:cNvSpPr>
          <p:nvPr/>
        </p:nvSpPr>
        <p:spPr>
          <a:xfrm xmlns:a="http://schemas.openxmlformats.org/drawingml/2006/main">
            <a:off x="7791450" y="372427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333333"/>
                </a:solidFill>
                <a:latin typeface="Aptos"/>
                <a:ea typeface="Aptos"/>
                <a:cs typeface="Aptos"/>
              </a:defRPr>
            </a:defPPr>
          </a:lstStyle>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δ = 1.5 − 1.2 = 0.3 mm</a:t>
            </a:r>
          </a:p>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r = 5000 × 0.0003 / 2.4</a:t>
            </a:r>
          </a:p>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   = 0.625</a:t>
            </a:r>
          </a:p>
        </p:txBody>
      </p:sp>
      <p:sp>
        <p:nvSpPr>
          <p:cNvPr id="12" name="">
            <a:extLst xmlns:a="http://schemas.openxmlformats.org/drawingml/2006/main">
              <a:ext uri="{FF2B5EF4-FFF2-40B4-BE49-F238E27FC236}">
                <a16:creationId xmlns:a16="http://schemas.microsoft.com/office/drawing/2014/main" id="{DC1E1B9E-12C7-4286-BA94-77687957A35E}"/>
              </a:ext>
            </a:extLst>
          </p:cNvPr>
          <p:cNvSpPr>
            <a:spLocks xmlns:a="http://schemas.openxmlformats.org/drawingml/2006/main" noGrp="1"/>
          </p:cNvSpPr>
          <p:nvPr/>
        </p:nvSpPr>
        <p:spPr>
          <a:xfrm xmlns:a="http://schemas.openxmlformats.org/drawingml/2006/main">
            <a:off x="7791450" y="51054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333333"/>
                </a:solidFill>
                <a:latin typeface="Aptos"/>
                <a:ea typeface="Aptos"/>
                <a:cs typeface="Aptos"/>
              </a:defRPr>
            </a:defPPr>
          </a:lstStyle>
          <a:p xmlns:a="http://schemas.openxmlformats.org/drawingml/2006/main">
            <a:pPr algn="l">
              <a:defRPr sz="1575" b="0">
                <a:solidFill>
                  <a:srgbClr val="333333"/>
                </a:solidFill>
                <a:latin typeface="Aptos"/>
                <a:ea typeface="Aptos"/>
                <a:cs typeface="Aptos"/>
              </a:defRPr>
            </a:pPr>
            <a:r>
              <a:rPr sz="1575" b="0">
                <a:solidFill>
                  <a:srgbClr val="333333"/>
                </a:solidFill>
                <a:latin typeface="Aptos"/>
                <a:ea typeface="Aptos"/>
                <a:cs typeface="Aptos"/>
              </a:rPr>
              <a:t>The response starts below 1.5 mm</a:t>
            </a:r>
          </a:p>
          <a:p xmlns:a="http://schemas.openxmlformats.org/drawingml/2006/main">
            <a:pPr algn="l">
              <a:defRPr sz="1575" b="0">
                <a:solidFill>
                  <a:srgbClr val="333333"/>
                </a:solidFill>
                <a:latin typeface="Aptos"/>
                <a:ea typeface="Aptos"/>
                <a:cs typeface="Aptos"/>
              </a:defRPr>
            </a:pPr>
            <a:r>
              <a:rPr sz="1575" b="0">
                <a:solidFill>
                  <a:srgbClr val="333333"/>
                </a:solidFill>
                <a:latin typeface="Aptos"/>
                <a:ea typeface="Aptos"/>
                <a:cs typeface="Aptos"/>
              </a:rPr>
              <a:t>and saturates at d ≤ 1.02 mm.</a:t>
            </a:r>
          </a:p>
        </p:txBody>
      </p:sp>
      <p:sp>
        <p:nvSpPr>
          <p:cNvPr id="13" name="">
            <a:extLst xmlns:a="http://schemas.openxmlformats.org/drawingml/2006/main">
              <a:ext uri="{FF2B5EF4-FFF2-40B4-BE49-F238E27FC236}">
                <a16:creationId xmlns:a16="http://schemas.microsoft.com/office/drawing/2014/main" id="{EE875628-4884-49C9-8BF8-BD9A5688BE40}"/>
              </a:ext>
            </a:extLst>
          </p:cNvPr>
          <p:cNvSpPr>
            <a:spLocks xmlns:a="http://schemas.openxmlformats.org/drawingml/2006/main" noGrp="1"/>
          </p:cNvSpPr>
          <p:nvPr/>
        </p:nvSpPr>
        <p:spPr>
          <a:xfrm xmlns:a="http://schemas.openxmlformats.org/drawingml/2006/main">
            <a:off x="590550" y="6229350"/>
            <a:ext cx="1102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defRPr sz="1500" b="0">
                <a:solidFill>
                  <a:srgbClr val="333333"/>
                </a:solidFill>
                <a:latin typeface="Aptos"/>
                <a:ea typeface="Aptos"/>
                <a:cs typeface="Aptos"/>
              </a:defRPr>
            </a:pPr>
            <a:r>
              <a:rPr sz="1500" b="0">
                <a:solidFill>
                  <a:srgbClr val="333333"/>
                </a:solidFill>
                <a:latin typeface="Aptos"/>
                <a:ea typeface="Aptos"/>
                <a:cs typeface="Aptos"/>
              </a:rPr>
              <a:t>k and s are inherited response parameters. These values require physical calibration.</a:t>
            </a:r>
          </a:p>
        </p:txBody>
      </p:sp>
    </p:spTree>
    <p:extLst>
      <p:ext uri="{BB962C8B-B14F-4D97-AF65-F5344CB8AC3E}">
        <p14:creationId xmlns:p14="http://schemas.microsoft.com/office/powerpoint/2010/main" val="8868030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Finger heatmaps during ball contact</a:t>
            </a:r>
          </a:p>
        </p:txBody>
      </p:sp>
      <p:pic>
        <p:nvPicPr>
          <p:cNvPr id="2" name="">
            <a:extLst xmlns:a="http://schemas.openxmlformats.org/drawingml/2006/main">
              <a:ext uri="{FF2B5EF4-FFF2-40B4-BE49-F238E27FC236}">
                <a16:creationId xmlns:a16="http://schemas.microsoft.com/office/drawing/2014/main" id="{9AF32522-A6EB-4A46-B486-F783C9BD86B4}"/>
              </a:ext>
            </a:extLst>
          </p:cNvPr>
          <p:cNvPicPr>
            <a:picLocks xmlns:a="http://schemas.openxmlformats.org/drawingml/2006/main" noChangeAspect="1"/>
          </p:cNvPicPr>
          <p:nvPr/>
        </p:nvPicPr>
        <p:blipFill>
          <a:blip xmlns:r="http://schemas.openxmlformats.org/officeDocument/2006/relationships" xmlns:a="http://schemas.openxmlformats.org/drawingml/2006/main" r:embed="Rae7157d5ccc14bc8"/>
          <a:srcRect xmlns:a="http://schemas.openxmlformats.org/drawingml/2006/main" l="0" t="0" r="0" b="0"/>
          <a:stretch xmlns:a="http://schemas.openxmlformats.org/drawingml/2006/main"/>
        </p:blipFill>
        <p:spPr>
          <a:xfrm xmlns:a="http://schemas.openxmlformats.org/drawingml/2006/main">
            <a:off x="590550" y="1514713"/>
            <a:ext cx="7639050" cy="455247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Four 12 × 32 arrays provide 1,536 responses. Each grid follows its own finger link.</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A local contact produces a local pattern. Opposing-finger proximity also appears after ball release.</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All four plots use the same 0–1 response scale. Display transforms place the finger root at the top.</a:t>
            </a:r>
          </a:p>
        </p:txBody>
      </p:sp>
    </p:spTree>
    <p:extLst>
      <p:ext uri="{BB962C8B-B14F-4D97-AF65-F5344CB8AC3E}">
        <p14:creationId xmlns:p14="http://schemas.microsoft.com/office/powerpoint/2010/main" val="8868030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Four foot patches in the same scene</a:t>
            </a:r>
          </a:p>
        </p:txBody>
      </p:sp>
      <p:pic>
        <p:nvPicPr>
          <p:cNvPr id="2" name="">
            <a:extLst xmlns:a="http://schemas.openxmlformats.org/drawingml/2006/main">
              <a:ext uri="{FF2B5EF4-FFF2-40B4-BE49-F238E27FC236}">
                <a16:creationId xmlns:a16="http://schemas.microsoft.com/office/drawing/2014/main" id="{9AF32522-A6EB-4A46-B486-F783C9BD86B4}"/>
              </a:ext>
            </a:extLst>
          </p:cNvPr>
          <p:cNvPicPr>
            <a:picLocks xmlns:a="http://schemas.openxmlformats.org/drawingml/2006/main" noChangeAspect="1"/>
          </p:cNvPicPr>
          <p:nvPr/>
        </p:nvPicPr>
        <p:blipFill>
          <a:blip xmlns:r="http://schemas.openxmlformats.org/officeDocument/2006/relationships" xmlns:a="http://schemas.openxmlformats.org/drawingml/2006/main" r:embed="R5aca04f1cb7e4ccb"/>
          <a:srcRect xmlns:a="http://schemas.openxmlformats.org/drawingml/2006/main" l="0" t="0" r="0" b="35000"/>
          <a:stretch xmlns:a="http://schemas.openxmlformats.org/drawingml/2006/main"/>
        </p:blipFill>
        <p:spPr>
          <a:xfrm xmlns:a="http://schemas.openxmlformats.org/drawingml/2006/main">
            <a:off x="590550" y="1476375"/>
            <a:ext cx="7639050"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Each foot has a front patch and a heel patch. Every patch contains 32 × 32 taxels.</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Each patch covers 80 × 80 mm at 2.5 mm pitch. A 16 mm gap separates the two patches.</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The four foot arrays add 4,096 responses and share the hand sensors’ update cycle.</a:t>
            </a:r>
          </a:p>
        </p:txBody>
      </p:sp>
    </p:spTree>
    <p:extLst>
      <p:ext uri="{BB962C8B-B14F-4D97-AF65-F5344CB8AC3E}">
        <p14:creationId xmlns:p14="http://schemas.microsoft.com/office/powerpoint/2010/main" val="8868030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Sole response: penetration without a shell</a:t>
            </a:r>
          </a:p>
        </p:txBody>
      </p:sp>
      <p:sp>
        <p:nvSpPr>
          <p:cNvPr id="7" name="">
            <a:extLst xmlns:a="http://schemas.openxmlformats.org/drawingml/2006/main">
              <a:ext uri="{FF2B5EF4-FFF2-40B4-BE49-F238E27FC236}">
                <a16:creationId xmlns:a16="http://schemas.microsoft.com/office/drawing/2014/main" id="{1E40C32B-7560-43EE-B162-9DBE14FC9799}"/>
              </a:ext>
            </a:extLst>
          </p:cNvPr>
          <p:cNvSpPr>
            <a:spLocks xmlns:a="http://schemas.openxmlformats.org/drawingml/2006/main" noGrp="1"/>
          </p:cNvSpPr>
          <p:nvPr/>
        </p:nvSpPr>
        <p:spPr>
          <a:xfrm xmlns:a="http://schemas.openxmlformats.org/drawingml/2006/main">
            <a:off x="590550" y="1371600"/>
            <a:ext cx="1102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333333"/>
                </a:solidFill>
                <a:latin typeface="Aptos"/>
                <a:ea typeface="Aptos"/>
                <a:cs typeface="Aptos"/>
              </a:defRPr>
            </a:defPPr>
          </a:lstStyle>
          <a:p xmlns:a="http://schemas.openxmlformats.org/drawingml/2006/main">
            <a:pPr algn="l">
              <a:defRPr sz="2325" b="0">
                <a:solidFill>
                  <a:srgbClr val="333333"/>
                </a:solidFill>
                <a:latin typeface="Aptos"/>
                <a:ea typeface="Aptos"/>
                <a:cs typeface="Aptos"/>
              </a:defRPr>
            </a:pPr>
            <a:r>
              <a:rPr sz="2325" b="0">
                <a:solidFill>
                  <a:srgbClr val="333333"/>
                </a:solidFill>
                <a:latin typeface="Aptos"/>
                <a:ea typeface="Aptos"/>
                <a:cs typeface="Aptos"/>
              </a:rPr>
              <a:t>r = clip( max(−d, 0) / d₀, 0, 1 )          d₀ = 0.002 m</a:t>
            </a:r>
          </a:p>
        </p:txBody>
      </p:sp>
      <p:sp>
        <p:nvSpPr>
          <p:cNvPr id="8" name="">
            <a:extLst xmlns:a="http://schemas.openxmlformats.org/drawingml/2006/main">
              <a:ext uri="{FF2B5EF4-FFF2-40B4-BE49-F238E27FC236}">
                <a16:creationId xmlns:a16="http://schemas.microsoft.com/office/drawing/2014/main" id="{432D61C2-CC8E-4527-8716-31708C033C79}"/>
              </a:ext>
            </a:extLst>
          </p:cNvPr>
          <p:cNvSpPr>
            <a:spLocks xmlns:a="http://schemas.openxmlformats.org/drawingml/2006/main" noGrp="1"/>
          </p:cNvSpPr>
          <p:nvPr/>
        </p:nvSpPr>
        <p:spPr>
          <a:xfrm xmlns:a="http://schemas.openxmlformats.org/drawingml/2006/main">
            <a:off x="590550" y="2076450"/>
            <a:ext cx="11029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For a horizontal ground plane: d = taxel height − ground height</a:t>
            </a:r>
          </a:p>
        </p:txBody>
      </p:sp>
      <p:graphicFrame>
        <p:nvGraphicFramePr>
          <p:cNvPr id="9" name="Chart">
            <a:extLst xmlns:a="http://schemas.openxmlformats.org/drawingml/2006/main">
              <a:ext uri="{FF2B5EF4-FFF2-40B4-BE49-F238E27FC236}">
                <a16:creationId xmlns:a16="http://schemas.microsoft.com/office/drawing/2014/main" id="{E5EC38A9-35DC-48E5-98C4-2AA5182603F3}"/>
              </a:ext>
            </a:extLst>
          </p:cNvPr>
          <p:cNvGraphicFramePr/>
          <p:nvPr/>
        </p:nvGraphicFramePr>
        <p:xfrm>
          <a:off xmlns:a="http://schemas.openxmlformats.org/drawingml/2006/main" x="590550" y="3028950"/>
          <a:ext xmlns:a="http://schemas.openxmlformats.org/drawingml/2006/main" cx="6667500" cy="2857500"/>
        </p:xfrm>
        <a:graphic xmlns:a="http://schemas.openxmlformats.org/drawingml/2006/main">
          <a:graphicData uri="http://schemas.openxmlformats.org/drawingml/2006/chart">
            <c:chart xmlns:r="http://schemas.openxmlformats.org/officeDocument/2006/relationships" xmlns:c="http://schemas.openxmlformats.org/drawingml/2006/chart" r:id="R31cdf8ec7a834fde"/>
          </a:graphicData>
        </a:graphic>
      </p:graphicFrame>
      <p:sp>
        <p:nvSpPr>
          <p:cNvPr id="10" name="">
            <a:extLst xmlns:a="http://schemas.openxmlformats.org/drawingml/2006/main">
              <a:ext uri="{FF2B5EF4-FFF2-40B4-BE49-F238E27FC236}">
                <a16:creationId xmlns:a16="http://schemas.microsoft.com/office/drawing/2014/main" id="{DAE95D72-AAD2-4996-84D3-95D6CEFDC862}"/>
              </a:ext>
            </a:extLst>
          </p:cNvPr>
          <p:cNvSpPr>
            <a:spLocks xmlns:a="http://schemas.openxmlformats.org/drawingml/2006/main" noGrp="1"/>
          </p:cNvSpPr>
          <p:nvPr/>
        </p:nvSpPr>
        <p:spPr>
          <a:xfrm xmlns:a="http://schemas.openxmlformats.org/drawingml/2006/main">
            <a:off x="7791450" y="31813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1">
                <a:solidFill>
                  <a:srgbClr val="111111"/>
                </a:solidFill>
                <a:latin typeface="Aptos"/>
                <a:ea typeface="Aptos"/>
                <a:cs typeface="Aptos"/>
              </a:defRPr>
            </a:defPPr>
          </a:lstStyle>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Example: d = −1 mm</a:t>
            </a:r>
          </a:p>
        </p:txBody>
      </p:sp>
      <p:sp>
        <p:nvSpPr>
          <p:cNvPr id="11" name="">
            <a:extLst xmlns:a="http://schemas.openxmlformats.org/drawingml/2006/main">
              <a:ext uri="{FF2B5EF4-FFF2-40B4-BE49-F238E27FC236}">
                <a16:creationId xmlns:a16="http://schemas.microsoft.com/office/drawing/2014/main" id="{F2C1B51F-811F-47E4-8E1E-7D1632EB5F24}"/>
              </a:ext>
            </a:extLst>
          </p:cNvPr>
          <p:cNvSpPr>
            <a:spLocks xmlns:a="http://schemas.openxmlformats.org/drawingml/2006/main" noGrp="1"/>
          </p:cNvSpPr>
          <p:nvPr/>
        </p:nvSpPr>
        <p:spPr>
          <a:xfrm xmlns:a="http://schemas.openxmlformats.org/drawingml/2006/main">
            <a:off x="7791450" y="37242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333333"/>
                </a:solidFill>
                <a:latin typeface="Aptos"/>
                <a:ea typeface="Aptos"/>
                <a:cs typeface="Aptos"/>
              </a:defRPr>
            </a:defPPr>
          </a:lstStyle>
          <a:p xmlns:a="http://schemas.openxmlformats.org/drawingml/2006/main">
            <a:pPr algn="l">
              <a:defRPr sz="1800" b="0">
                <a:solidFill>
                  <a:srgbClr val="333333"/>
                </a:solidFill>
                <a:latin typeface="Aptos"/>
                <a:ea typeface="Aptos"/>
                <a:cs typeface="Aptos"/>
              </a:defRPr>
            </a:pPr>
            <a:r>
              <a:rPr sz="1800" b="0">
                <a:solidFill>
                  <a:srgbClr val="333333"/>
                </a:solidFill>
                <a:latin typeface="Aptos"/>
                <a:ea typeface="Aptos"/>
                <a:cs typeface="Aptos"/>
              </a:rPr>
              <a:t>δ = max(1, 0) = 1 mm</a:t>
            </a:r>
          </a:p>
          <a:p xmlns:a="http://schemas.openxmlformats.org/drawingml/2006/main">
            <a:pPr algn="l">
              <a:defRPr sz="1800" b="0">
                <a:solidFill>
                  <a:srgbClr val="333333"/>
                </a:solidFill>
                <a:latin typeface="Aptos"/>
                <a:ea typeface="Aptos"/>
                <a:cs typeface="Aptos"/>
              </a:defRPr>
            </a:pPr>
            <a:r>
              <a:rPr sz="1800" b="0">
                <a:solidFill>
                  <a:srgbClr val="333333"/>
                </a:solidFill>
                <a:latin typeface="Aptos"/>
                <a:ea typeface="Aptos"/>
                <a:cs typeface="Aptos"/>
              </a:rPr>
              <a:t>r = 1 / 2 = 0.5</a:t>
            </a:r>
          </a:p>
        </p:txBody>
      </p:sp>
      <p:sp>
        <p:nvSpPr>
          <p:cNvPr id="12" name="">
            <a:extLst xmlns:a="http://schemas.openxmlformats.org/drawingml/2006/main">
              <a:ext uri="{FF2B5EF4-FFF2-40B4-BE49-F238E27FC236}">
                <a16:creationId xmlns:a16="http://schemas.microsoft.com/office/drawing/2014/main" id="{403FCF0A-10C8-490A-AD7C-68E29BB5362B}"/>
              </a:ext>
            </a:extLst>
          </p:cNvPr>
          <p:cNvSpPr>
            <a:spLocks xmlns:a="http://schemas.openxmlformats.org/drawingml/2006/main" noGrp="1"/>
          </p:cNvSpPr>
          <p:nvPr/>
        </p:nvSpPr>
        <p:spPr>
          <a:xfrm xmlns:a="http://schemas.openxmlformats.org/drawingml/2006/main">
            <a:off x="7791450" y="48291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d ≥ 0: response = 0</a:t>
            </a:r>
          </a:p>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d ≤ −2 mm: response = 1</a:t>
            </a:r>
          </a:p>
        </p:txBody>
      </p:sp>
      <p:sp>
        <p:nvSpPr>
          <p:cNvPr id="13" name="">
            <a:extLst xmlns:a="http://schemas.openxmlformats.org/drawingml/2006/main">
              <a:ext uri="{FF2B5EF4-FFF2-40B4-BE49-F238E27FC236}">
                <a16:creationId xmlns:a16="http://schemas.microsoft.com/office/drawing/2014/main" id="{CDA254E3-5C15-4B3F-998F-46DCCF55951C}"/>
              </a:ext>
            </a:extLst>
          </p:cNvPr>
          <p:cNvSpPr>
            <a:spLocks xmlns:a="http://schemas.openxmlformats.org/drawingml/2006/main" noGrp="1"/>
          </p:cNvSpPr>
          <p:nvPr/>
        </p:nvSpPr>
        <p:spPr>
          <a:xfrm xmlns:a="http://schemas.openxmlformats.org/drawingml/2006/main">
            <a:off x="590550" y="6229350"/>
            <a:ext cx="1102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defRPr sz="1500" b="0">
                <a:solidFill>
                  <a:srgbClr val="333333"/>
                </a:solidFill>
                <a:latin typeface="Aptos"/>
                <a:ea typeface="Aptos"/>
                <a:cs typeface="Aptos"/>
              </a:defRPr>
            </a:pPr>
            <a:r>
              <a:rPr sz="1500" b="0">
                <a:solidFill>
                  <a:srgbClr val="333333"/>
                </a:solidFill>
                <a:latin typeface="Aptos"/>
                <a:ea typeface="Aptos"/>
                <a:cs typeface="Aptos"/>
              </a:rPr>
              <a:t>A positive shell can saturate grounded feet. This depth mapping preserves useful changes.</a:t>
            </a:r>
          </a:p>
        </p:txBody>
      </p:sp>
    </p:spTree>
    <p:extLst>
      <p:ext uri="{BB962C8B-B14F-4D97-AF65-F5344CB8AC3E}">
        <p14:creationId xmlns:p14="http://schemas.microsoft.com/office/powerpoint/2010/main" val="886803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Separate front and heel heatmaps</a:t>
            </a:r>
          </a:p>
        </p:txBody>
      </p:sp>
      <p:pic>
        <p:nvPicPr>
          <p:cNvPr id="2" name="">
            <a:extLst xmlns:a="http://schemas.openxmlformats.org/drawingml/2006/main">
              <a:ext uri="{FF2B5EF4-FFF2-40B4-BE49-F238E27FC236}">
                <a16:creationId xmlns:a16="http://schemas.microsoft.com/office/drawing/2014/main" id="{9AF32522-A6EB-4A46-B486-F783C9BD86B4}"/>
              </a:ext>
            </a:extLst>
          </p:cNvPr>
          <p:cNvPicPr>
            <a:picLocks xmlns:a="http://schemas.openxmlformats.org/drawingml/2006/main" noChangeAspect="1"/>
          </p:cNvPicPr>
          <p:nvPr/>
        </p:nvPicPr>
        <p:blipFill>
          <a:blip xmlns:r="http://schemas.openxmlformats.org/officeDocument/2006/relationships" xmlns:a="http://schemas.openxmlformats.org/drawingml/2006/main" r:embed="R5ef089d4c99f402f"/>
          <a:srcRect xmlns:a="http://schemas.openxmlformats.org/drawingml/2006/main" l="0" t="0" r="0" b="0"/>
          <a:stretch xmlns:a="http://schemas.openxmlformats.org/drawingml/2006/main"/>
        </p:blipFill>
        <p:spPr>
          <a:xfrm xmlns:a="http://schemas.openxmlformats.org/drawingml/2006/main">
            <a:off x="1838325" y="1257300"/>
            <a:ext cx="5143500" cy="5143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Four plots report the front and heel regions of the left and right feet separately.</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The source model has about 0.82 mm of zero-pose sole height difference, which affects initial readings.</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The four foot plots share an automatic color range. Raw responses remain in 0–1 and are saved separately.</a:t>
            </a:r>
          </a:p>
        </p:txBody>
      </p:sp>
    </p:spTree>
    <p:extLst>
      <p:ext uri="{BB962C8B-B14F-4D97-AF65-F5344CB8AC3E}">
        <p14:creationId xmlns:p14="http://schemas.microsoft.com/office/powerpoint/2010/main" val="8868030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FlexiTac methods and mjlab adaptations</a:t>
            </a:r>
          </a:p>
        </p:txBody>
      </p:sp>
      <p:graphicFrame>
        <p:nvGraphicFramePr>
          <p:cNvPr id="7" name="">
            <a:extLst xmlns:a="http://schemas.openxmlformats.org/drawingml/2006/main">
              <a:ext uri="{FF2B5EF4-FFF2-40B4-BE49-F238E27FC236}">
                <a16:creationId xmlns:a16="http://schemas.microsoft.com/office/drawing/2014/main" id="{6D7EEA0E-9A89-449D-B369-E326420D793D}"/>
              </a:ext>
            </a:extLst>
          </p:cNvPr>
          <p:cNvGraphicFramePr/>
          <p:nvPr/>
        </p:nvGraphicFramePr>
        <p:xfrm>
          <a:off xmlns:a="http://schemas.openxmlformats.org/drawingml/2006/main" x="590550" y="1428750"/>
          <a:ext xmlns:a="http://schemas.openxmlformats.org/drawingml/2006/main" cx="11029950" cy="3943350"/>
        </p:xfrm>
        <a:graphic xmlns:a="http://schemas.openxmlformats.org/drawingml/2006/main">
          <a:graphicData uri="http://schemas.openxmlformats.org/drawingml/2006/table">
            <a:tbl>
              <a:tblPr firstRow="1" bandRow="0"/>
              <a:tblGrid>
                <a:gridCol w="2524125"/>
                <a:gridCol w="4010025"/>
                <a:gridCol w="4495800"/>
              </a:tblGrid>
              <a:tr h="657225">
                <a:tc>
                  <a:txBody>
                    <a:bodyPr wrap="square"/>
                    <a:lstStyle/>
                    <a:p>
                      <a:r>
                        <a:rPr sz="1500" b="1">
                          <a:solidFill>
                            <a:srgbClr val="333333"/>
                          </a:solidFill>
                          <a:latin typeface="Aptos"/>
                          <a:ea typeface="Aptos"/>
                          <a:cs typeface="Aptos"/>
                        </a:rPr>
                        <a:t>Component</a:t>
                      </a:r>
                    </a:p>
                  </a:txBody>
                  <a:tcPr marL="133350" marR="133350" marT="123825" marB="9525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c>
                  <a:txBody>
                    <a:bodyPr wrap="square"/>
                    <a:lstStyle/>
                    <a:p>
                      <a:r>
                        <a:rPr sz="1500" b="1">
                          <a:solidFill>
                            <a:srgbClr val="333333"/>
                          </a:solidFill>
                          <a:latin typeface="Aptos"/>
                          <a:ea typeface="Aptos"/>
                          <a:cs typeface="Aptos"/>
                        </a:rPr>
                        <a:t>Isaac / previous setup</a:t>
                      </a:r>
                    </a:p>
                  </a:txBody>
                  <a:tcPr marL="133350" marR="133350" marT="123825" marB="95250" anchor="ctr">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c>
                  <a:txBody>
                    <a:bodyPr wrap="square"/>
                    <a:lstStyle/>
                    <a:p>
                      <a:r>
                        <a:rPr sz="1500" b="1">
                          <a:solidFill>
                            <a:srgbClr val="333333"/>
                          </a:solidFill>
                          <a:latin typeface="Aptos"/>
                          <a:ea typeface="Aptos"/>
                          <a:cs typeface="Aptos"/>
                        </a:rPr>
                        <a:t>Week 3 implementation</a:t>
                      </a:r>
                    </a:p>
                  </a:txBody>
                  <a:tcPr marL="133350" marR="133350" marT="123825" marB="95250" anchor="ctr">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r>
              <a:tr h="657225">
                <a:tc>
                  <a:txBody>
                    <a:bodyPr wrap="square"/>
                    <a:lstStyle/>
                    <a:p>
                      <a:r>
                        <a:rPr sz="1500" b="0">
                          <a:solidFill>
                            <a:srgbClr val="333333"/>
                          </a:solidFill>
                          <a:latin typeface="Aptos"/>
                          <a:ea typeface="Aptos"/>
                          <a:cs typeface="Aptos"/>
                        </a:rPr>
                        <a:t>Grid and transforms</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Rigid surface samples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Same method for hands and feet</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57225">
                <a:tc>
                  <a:txBody>
                    <a:bodyPr wrap="square"/>
                    <a:lstStyle/>
                    <a:p>
                      <a:r>
                        <a:rPr sz="1500" b="0">
                          <a:solidFill>
                            <a:srgbClr val="333333"/>
                          </a:solidFill>
                          <a:latin typeface="Aptos"/>
                          <a:ea typeface="Aptos"/>
                          <a:cs typeface="Aptos"/>
                        </a:rPr>
                        <a:t>Mesh query</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Warp nearest surface, optional sign</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Warp unsigned mesh distance</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57225">
                <a:tc>
                  <a:txBody>
                    <a:bodyPr wrap="square"/>
                    <a:lstStyle/>
                    <a:p>
                      <a:r>
                        <a:rPr sz="1500" b="0">
                          <a:solidFill>
                            <a:srgbClr val="333333"/>
                          </a:solidFill>
                          <a:latin typeface="Aptos"/>
                          <a:ea typeface="Aptos"/>
                          <a:cs typeface="Aptos"/>
                        </a:rPr>
                        <a:t>Geometry and poses</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USD meshes and PhysX state</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MuJoCo meshes and Warp state</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57225">
                <a:tc>
                  <a:txBody>
                    <a:bodyPr wrap="square"/>
                    <a:lstStyle/>
                    <a:p>
                      <a:r>
                        <a:rPr sz="1500" b="0">
                          <a:solidFill>
                            <a:srgbClr val="333333"/>
                          </a:solidFill>
                          <a:latin typeface="Aptos"/>
                          <a:ea typeface="Aptos"/>
                          <a:cs typeface="Aptos"/>
                        </a:rPr>
                        <a:t>Sensor lifecycle</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Isaac sensor class and callbacks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Custom mjlab Sensor adapter</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57225">
                <a:tc>
                  <a:txBody>
                    <a:bodyPr wrap="square"/>
                    <a:lstStyle/>
                    <a:p>
                      <a:r>
                        <a:rPr sz="1500" b="0">
                          <a:solidFill>
                            <a:srgbClr val="333333"/>
                          </a:solidFill>
                          <a:latin typeface="Aptos"/>
                          <a:ea typeface="Aptos"/>
                          <a:cs typeface="Aptos"/>
                        </a:rPr>
                        <a:t>Response mapping</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Shell or signed penetration</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Hand shell, sole depth normalization</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E36C269-DF8E-4468-96DB-42CD66038FCD}"/>
              </a:ext>
            </a:extLst>
          </p:cNvPr>
          <p:cNvSpPr>
            <a:spLocks xmlns:a="http://schemas.openxmlformats.org/drawingml/2006/main" noGrp="1"/>
          </p:cNvSpPr>
          <p:nvPr/>
        </p:nvSpPr>
        <p:spPr>
          <a:xfrm xmlns:a="http://schemas.openxmlformats.org/drawingml/2006/main">
            <a:off x="590550" y="5619750"/>
            <a:ext cx="11029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This is a method port. The demo does not import the Isaac WarpSdfTactileSensor class.</a:t>
            </a:r>
          </a:p>
        </p:txBody>
      </p:sp>
      <p:sp>
        <p:nvSpPr>
          <p:cNvPr id="9" name="">
            <a:extLst xmlns:a="http://schemas.openxmlformats.org/drawingml/2006/main">
              <a:ext uri="{FF2B5EF4-FFF2-40B4-BE49-F238E27FC236}">
                <a16:creationId xmlns:a16="http://schemas.microsoft.com/office/drawing/2014/main" id="{C69D7451-37C0-4672-BAC0-EF7E70326CFB}"/>
              </a:ext>
            </a:extLst>
          </p:cNvPr>
          <p:cNvSpPr>
            <a:spLocks xmlns:a="http://schemas.openxmlformats.org/drawingml/2006/main" noGrp="1"/>
          </p:cNvSpPr>
          <p:nvPr/>
        </p:nvSpPr>
        <p:spPr>
          <a:xfrm xmlns:a="http://schemas.openxmlformats.org/drawingml/2006/main">
            <a:off x="590550" y="6153150"/>
            <a:ext cx="11029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defRPr sz="1500" b="0">
                <a:solidFill>
                  <a:srgbClr val="333333"/>
                </a:solidFill>
                <a:latin typeface="Aptos"/>
                <a:ea typeface="Aptos"/>
                <a:cs typeface="Aptos"/>
              </a:defRPr>
            </a:pPr>
            <a:r>
              <a:rPr sz="1500" b="0">
                <a:solidFill>
                  <a:srgbClr val="333333"/>
                </a:solidFill>
                <a:latin typeface="Aptos"/>
                <a:ea typeface="Aptos"/>
                <a:cs typeface="Aptos"/>
              </a:rPr>
              <a:t>Common output: [environments, patches, taxels, (x, y, z, response)]. Distances remain available.</a:t>
            </a:r>
          </a:p>
        </p:txBody>
      </p:sp>
    </p:spTree>
    <p:extLst>
      <p:ext uri="{BB962C8B-B14F-4D97-AF65-F5344CB8AC3E}">
        <p14:creationId xmlns:p14="http://schemas.microsoft.com/office/powerpoint/2010/main" val="8868030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Interactive grasp and tactile demo</a:t>
            </a:r>
          </a:p>
        </p:txBody>
      </p:sp>
      <p:pic>
        <p:nvPicPr>
          <p:cNvPr id="2" name="Embedded recording 2" descr="Embedded video 2, click to play">
            <a:extLst xmlns:a="http://schemas.openxmlformats.org/drawingml/2006/main">
              <a:ext uri="{FF2B5EF4-FFF2-40B4-BE49-F238E27FC236}">
                <a16:creationId xmlns:a16="http://schemas.microsoft.com/office/drawing/2014/main" id="{9AF32522-A6EB-4A46-B486-F783C9BD86B4}"/>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EmbeddedVideo2"/>
            <p:extLst>
              <p:ext uri="{DAA4B4D4-6D71-4841-9C94-3DE7FCFB9230}">
                <p14:media xmlns:p14="http://schemas.microsoft.com/office/powerpoint/2010/main" xmlns:ns3="http://schemas.openxmlformats.org/officeDocument/2006/relationships" ns3:embed="rIdEmbeddedMedia2"/>
              </p:ext>
            </p:extLst>
          </p:nvPr>
        </p:nvPicPr>
        <p:blipFill>
          <a:blip xmlns:r="http://schemas.openxmlformats.org/officeDocument/2006/relationships" xmlns:a="http://schemas.openxmlformats.org/drawingml/2006/main" r:embed="R1db324c5ac15496b"/>
          <a:srcRect xmlns:a="http://schemas.openxmlformats.org/drawingml/2006/main" l="0" t="0" r="0" b="0"/>
          <a:stretch xmlns:a="http://schemas.openxmlformats.org/drawingml/2006/main"/>
        </p:blipFill>
        <p:spPr>
          <a:xfrm xmlns:a="http://schemas.openxmlformats.org/drawingml/2006/main">
            <a:off x="590550" y="1815471"/>
            <a:ext cx="7639050" cy="395095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97A1D2-F3BD-4253-B5D0-3166F70EB35A}"/>
              </a:ext>
            </a:extLst>
          </p:cNvPr>
          <p:cNvSpPr>
            <a:spLocks xmlns:a="http://schemas.openxmlformats.org/drawingml/2006/main" noGrp="1"/>
          </p:cNvSpPr>
          <p:nvPr/>
        </p:nvSpPr>
        <p:spPr>
          <a:xfrm xmlns:a="http://schemas.openxmlformats.org/drawingml/2006/main">
            <a:off x="8686800" y="16002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One interface controls both grippers and each ball’s position, reset and release.</a:t>
            </a:r>
          </a:p>
        </p:txBody>
      </p:sp>
      <p:sp>
        <p:nvSpPr>
          <p:cNvPr id="4" name="">
            <a:extLst xmlns:a="http://schemas.openxmlformats.org/drawingml/2006/main">
              <a:ext uri="{FF2B5EF4-FFF2-40B4-BE49-F238E27FC236}">
                <a16:creationId xmlns:a16="http://schemas.microsoft.com/office/drawing/2014/main" id="{C377642F-DE8E-43C4-B56F-12E1016905D0}"/>
              </a:ext>
            </a:extLst>
          </p:cNvPr>
          <p:cNvSpPr>
            <a:spLocks xmlns:a="http://schemas.openxmlformats.org/drawingml/2006/main" noGrp="1"/>
          </p:cNvSpPr>
          <p:nvPr/>
        </p:nvSpPr>
        <p:spPr>
          <a:xfrm xmlns:a="http://schemas.openxmlformats.org/drawingml/2006/main">
            <a:off x="8686800" y="28194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Eight arrays update with the simulation. Heatmaps change as object and opposing-finger distances change.</a:t>
            </a:r>
          </a:p>
        </p:txBody>
      </p:sp>
      <p:sp>
        <p:nvSpPr>
          <p:cNvPr id="5" name="">
            <a:extLst xmlns:a="http://schemas.openxmlformats.org/drawingml/2006/main">
              <a:ext uri="{FF2B5EF4-FFF2-40B4-BE49-F238E27FC236}">
                <a16:creationId xmlns:a16="http://schemas.microsoft.com/office/drawing/2014/main" id="{C61171B1-4657-4CB6-8358-EA328F29C3AF}"/>
              </a:ext>
            </a:extLst>
          </p:cNvPr>
          <p:cNvSpPr>
            <a:spLocks xmlns:a="http://schemas.openxmlformats.org/drawingml/2006/main" noGrp="1"/>
          </p:cNvSpPr>
          <p:nvPr/>
        </p:nvSpPr>
        <p:spPr>
          <a:xfrm xmlns:a="http://schemas.openxmlformats.org/drawingml/2006/main">
            <a:off x="8686800" y="403860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333333"/>
                </a:solidFill>
                <a:latin typeface="Aptos"/>
                <a:ea typeface="Aptos"/>
                <a:cs typeface="Aptos"/>
              </a:defRPr>
            </a:defPPr>
          </a:lstStyle>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50.9 s recording.</a:t>
            </a:r>
          </a:p>
          <a:p xmlns:a="http://schemas.openxmlformats.org/drawingml/2006/main">
            <a:pPr algn="l">
              <a:buNone/>
              <a:defRPr sz="1500" b="0">
                <a:solidFill>
                  <a:srgbClr val="333333"/>
                </a:solidFill>
                <a:latin typeface="Aptos"/>
                <a:ea typeface="Aptos"/>
                <a:cs typeface="Aptos"/>
              </a:defRPr>
            </a:pPr>
            <a:r>
              <a:rPr sz="1500" b="0">
                <a:solidFill>
                  <a:srgbClr val="333333"/>
                </a:solidFill>
                <a:latin typeface="Aptos"/>
                <a:ea typeface="Aptos"/>
                <a:cs typeface="Aptos"/>
              </a:rPr>
              <a:t>Click the video during the slide show to play.</a:t>
            </a:r>
          </a:p>
        </p:txBody>
      </p:sp>
    </p:spTree>
    <p:extLst>
      <p:ext uri="{BB962C8B-B14F-4D97-AF65-F5344CB8AC3E}">
        <p14:creationId xmlns:p14="http://schemas.microsoft.com/office/powerpoint/2010/main" val="886803040"/>
      </p:ext>
    </p:extLst>
  </p:cSld>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Validation results</a:t>
            </a:r>
          </a:p>
        </p:txBody>
      </p:sp>
      <p:graphicFrame>
        <p:nvGraphicFramePr>
          <p:cNvPr id="7" name="">
            <a:extLst xmlns:a="http://schemas.openxmlformats.org/drawingml/2006/main">
              <a:ext uri="{FF2B5EF4-FFF2-40B4-BE49-F238E27FC236}">
                <a16:creationId xmlns:a16="http://schemas.microsoft.com/office/drawing/2014/main" id="{9FC5EF66-81DA-4C30-952C-E2F910B2B66B}"/>
              </a:ext>
            </a:extLst>
          </p:cNvPr>
          <p:cNvGraphicFramePr/>
          <p:nvPr/>
        </p:nvGraphicFramePr>
        <p:xfrm>
          <a:off xmlns:a="http://schemas.openxmlformats.org/drawingml/2006/main" x="590550" y="1428750"/>
          <a:ext xmlns:a="http://schemas.openxmlformats.org/drawingml/2006/main" cx="11029950" cy="3429000"/>
        </p:xfrm>
        <a:graphic xmlns:a="http://schemas.openxmlformats.org/drawingml/2006/main">
          <a:graphicData uri="http://schemas.openxmlformats.org/drawingml/2006/table">
            <a:tbl>
              <a:tblPr firstRow="1" bandRow="0"/>
              <a:tblGrid>
                <a:gridCol w="2524125"/>
                <a:gridCol w="4010025"/>
                <a:gridCol w="4495800"/>
              </a:tblGrid>
              <a:tr h="685800">
                <a:tc>
                  <a:txBody>
                    <a:bodyPr wrap="square"/>
                    <a:lstStyle/>
                    <a:p>
                      <a:r>
                        <a:rPr sz="1500" b="1">
                          <a:solidFill>
                            <a:srgbClr val="333333"/>
                          </a:solidFill>
                          <a:latin typeface="Aptos"/>
                          <a:ea typeface="Aptos"/>
                          <a:cs typeface="Aptos"/>
                        </a:rPr>
                        <a:t>Check</a:t>
                      </a:r>
                    </a:p>
                  </a:txBody>
                  <a:tcPr marL="133350" marR="133350" marT="123825" marB="9525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c>
                  <a:txBody>
                    <a:bodyPr wrap="square"/>
                    <a:lstStyle/>
                    <a:p>
                      <a:r>
                        <a:rPr sz="1500" b="1">
                          <a:solidFill>
                            <a:srgbClr val="333333"/>
                          </a:solidFill>
                          <a:latin typeface="Aptos"/>
                          <a:ea typeface="Aptos"/>
                          <a:cs typeface="Aptos"/>
                        </a:rPr>
                        <a:t>Saved test condition</a:t>
                      </a:r>
                    </a:p>
                  </a:txBody>
                  <a:tcPr marL="133350" marR="133350" marT="123825" marB="95250" anchor="ctr">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c>
                  <a:txBody>
                    <a:bodyPr wrap="square"/>
                    <a:lstStyle/>
                    <a:p>
                      <a:r>
                        <a:rPr sz="1500" b="1">
                          <a:solidFill>
                            <a:srgbClr val="333333"/>
                          </a:solidFill>
                          <a:latin typeface="Aptos"/>
                          <a:ea typeface="Aptos"/>
                          <a:cs typeface="Aptos"/>
                        </a:rPr>
                        <a:t>Result</a:t>
                      </a:r>
                    </a:p>
                  </a:txBody>
                  <a:tcPr marL="133350" marR="133350" marT="123825" marB="95250" anchor="ctr">
                    <a:lnR w="9525">
                      <a:solidFill>
                        <a:srgbClr val="D9D9D9"/>
                      </a:solidFill>
                      <a:prstDash val="solid"/>
                    </a:lnR>
                    <a:lnT w="9525">
                      <a:solidFill>
                        <a:srgbClr val="D9D9D9"/>
                      </a:solidFill>
                      <a:prstDash val="solid"/>
                    </a:lnT>
                    <a:lnB w="9525">
                      <a:solidFill>
                        <a:srgbClr val="D9D9D9"/>
                      </a:solidFill>
                      <a:prstDash val="solid"/>
                    </a:lnB>
                    <a:solidFill>
                      <a:srgbClr val="F2F2F2"/>
                    </a:solidFill>
                  </a:tcPr>
                </a:tc>
              </a:tr>
              <a:tr h="685800">
                <a:tc>
                  <a:txBody>
                    <a:bodyPr wrap="square"/>
                    <a:lstStyle/>
                    <a:p>
                      <a:r>
                        <a:rPr sz="1500" b="0">
                          <a:solidFill>
                            <a:srgbClr val="333333"/>
                          </a:solidFill>
                          <a:latin typeface="Aptos"/>
                          <a:ea typeface="Aptos"/>
                          <a:cs typeface="Aptos"/>
                        </a:rPr>
                        <a:t>Dual grasp</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Both balls held for 4 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0.477 mm drift per ball</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85800">
                <a:tc>
                  <a:txBody>
                    <a:bodyPr wrap="square"/>
                    <a:lstStyle/>
                    <a:p>
                      <a:r>
                        <a:rPr sz="1500" b="0">
                          <a:solidFill>
                            <a:srgbClr val="333333"/>
                          </a:solidFill>
                          <a:latin typeface="Aptos"/>
                          <a:ea typeface="Aptos"/>
                          <a:cs typeface="Aptos"/>
                        </a:rPr>
                        <a:t>Vertical support</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40 g sphere in each hand</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About 0.3924 N per hand</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85800">
                <a:tc>
                  <a:txBody>
                    <a:bodyPr wrap="square"/>
                    <a:lstStyle/>
                    <a:p>
                      <a:r>
                        <a:rPr sz="1500" b="0">
                          <a:solidFill>
                            <a:srgbClr val="333333"/>
                          </a:solidFill>
                          <a:latin typeface="Aptos"/>
                          <a:ea typeface="Aptos"/>
                          <a:cs typeface="Aptos"/>
                        </a:rPr>
                        <a:t>Sole placement</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Four parallel environments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0.055 mm maximum surface error</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r h="685800">
                <a:tc>
                  <a:txBody>
                    <a:bodyPr wrap="square"/>
                    <a:lstStyle/>
                    <a:p>
                      <a:r>
                        <a:rPr sz="1500" b="0">
                          <a:solidFill>
                            <a:srgbClr val="333333"/>
                          </a:solidFill>
                          <a:latin typeface="Aptos"/>
                          <a:ea typeface="Aptos"/>
                          <a:cs typeface="Aptos"/>
                        </a:rPr>
                        <a:t>Object response</a:t>
                      </a:r>
                    </a:p>
                  </a:txBody>
                  <a:tcPr marL="133350" marR="133350" marT="123825" marB="9525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Six geometry types, four fingers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c>
                  <a:txBody>
                    <a:bodyPr wrap="square"/>
                    <a:lstStyle/>
                    <a:p>
                      <a:r>
                        <a:rPr sz="1500" b="0">
                          <a:solidFill>
                            <a:srgbClr val="333333"/>
                          </a:solidFill>
                          <a:latin typeface="Aptos"/>
                          <a:ea typeface="Aptos"/>
                          <a:cs typeface="Aptos"/>
                        </a:rPr>
                        <a:t>Response appears and clears</a:t>
                      </a:r>
                    </a:p>
                  </a:txBody>
                  <a:tcPr marL="133350" marR="133350" marT="123825" marB="9525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8A3223E-28B6-487D-9673-43ECA5BD4B93}"/>
              </a:ext>
            </a:extLst>
          </p:cNvPr>
          <p:cNvSpPr>
            <a:spLocks xmlns:a="http://schemas.openxmlformats.org/drawingml/2006/main" noGrp="1"/>
          </p:cNvSpPr>
          <p:nvPr/>
        </p:nvSpPr>
        <p:spPr>
          <a:xfrm xmlns:a="http://schemas.openxmlformats.org/drawingml/2006/main">
            <a:off x="590550" y="5200650"/>
            <a:ext cx="1102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333333"/>
                </a:solidFill>
                <a:latin typeface="Aptos"/>
                <a:ea typeface="Aptos"/>
                <a:cs typeface="Aptos"/>
              </a:defRPr>
            </a:defPPr>
          </a:lstStyle>
          <a:p xmlns:a="http://schemas.openxmlformats.org/drawingml/2006/main">
            <a:pPr algn="l">
              <a:defRPr sz="2175" b="0">
                <a:solidFill>
                  <a:srgbClr val="333333"/>
                </a:solidFill>
                <a:latin typeface="Aptos"/>
                <a:ea typeface="Aptos"/>
                <a:cs typeface="Aptos"/>
              </a:defRPr>
            </a:pPr>
            <a:r>
              <a:rPr sz="2175" b="0">
                <a:solidFill>
                  <a:srgbClr val="333333"/>
                </a:solidFill>
                <a:latin typeface="Aptos"/>
                <a:ea typeface="Aptos"/>
                <a:cs typeface="Aptos"/>
              </a:rPr>
              <a:t>Force consistency:  Σ Fz ≈ mg = 0.040 × 9.81 = 0.3924 N</a:t>
            </a:r>
          </a:p>
        </p:txBody>
      </p:sp>
      <p:sp>
        <p:nvSpPr>
          <p:cNvPr id="9" name="">
            <a:extLst xmlns:a="http://schemas.openxmlformats.org/drawingml/2006/main">
              <a:ext uri="{FF2B5EF4-FFF2-40B4-BE49-F238E27FC236}">
                <a16:creationId xmlns:a16="http://schemas.microsoft.com/office/drawing/2014/main" id="{92B117FC-F53C-49F7-9F89-72803A39BD62}"/>
              </a:ext>
            </a:extLst>
          </p:cNvPr>
          <p:cNvSpPr>
            <a:spLocks xmlns:a="http://schemas.openxmlformats.org/drawingml/2006/main" noGrp="1"/>
          </p:cNvSpPr>
          <p:nvPr/>
        </p:nvSpPr>
        <p:spPr>
          <a:xfrm xmlns:a="http://schemas.openxmlformats.org/drawingml/2006/main">
            <a:off x="590550" y="5934075"/>
            <a:ext cx="1102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The force check uses solver contact forces. The tactile heatmaps use the distance formulas.</a:t>
            </a:r>
          </a:p>
        </p:txBody>
      </p:sp>
    </p:spTree>
    <p:extLst>
      <p:ext uri="{BB962C8B-B14F-4D97-AF65-F5344CB8AC3E}">
        <p14:creationId xmlns:p14="http://schemas.microsoft.com/office/powerpoint/2010/main" val="8868030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6E0375-B656-4164-B60B-3F521F8362C4}"/>
              </a:ext>
            </a:extLst>
          </p:cNvPr>
          <p:cNvSpPr>
            <a:spLocks xmlns:a="http://schemas.openxmlformats.org/drawingml/2006/main" noGrp="1"/>
          </p:cNvSpPr>
          <p:nvPr/>
        </p:nvSpPr>
        <p:spPr>
          <a:xfrm xmlns:a="http://schemas.openxmlformats.org/drawingml/2006/main">
            <a:off x="590550" y="4095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400" b="1">
                <a:solidFill>
                  <a:srgbClr val="111111"/>
                </a:solidFill>
                <a:latin typeface="Aptos"/>
                <a:ea typeface="Aptos"/>
                <a:cs typeface="Aptos"/>
              </a:defRPr>
            </a:defPPr>
          </a:lstStyle>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Calibration and next steps</a:t>
            </a:r>
          </a:p>
        </p:txBody>
      </p:sp>
      <p:sp>
        <p:nvSpPr>
          <p:cNvPr id="7" name="">
            <a:extLst xmlns:a="http://schemas.openxmlformats.org/drawingml/2006/main">
              <a:ext uri="{FF2B5EF4-FFF2-40B4-BE49-F238E27FC236}">
                <a16:creationId xmlns:a16="http://schemas.microsoft.com/office/drawing/2014/main" id="{3150F55D-EA7F-4FC0-A5D7-7C4699647BCF}"/>
              </a:ext>
            </a:extLst>
          </p:cNvPr>
          <p:cNvSpPr>
            <a:spLocks xmlns:a="http://schemas.openxmlformats.org/drawingml/2006/main" noGrp="1"/>
          </p:cNvSpPr>
          <p:nvPr/>
        </p:nvSpPr>
        <p:spPr>
          <a:xfrm xmlns:a="http://schemas.openxmlformats.org/drawingml/2006/main">
            <a:off x="590550" y="1400175"/>
            <a:ext cx="11029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11111"/>
                </a:solidFill>
                <a:latin typeface="Aptos"/>
                <a:ea typeface="Aptos"/>
                <a:cs typeface="Aptos"/>
              </a:defRPr>
            </a:defPPr>
          </a:lstStyle>
          <a:p xmlns:a="http://schemas.openxmlformats.org/drawingml/2006/main">
            <a:pPr algn="l">
              <a:defRPr sz="1800" b="1">
                <a:solidFill>
                  <a:srgbClr val="111111"/>
                </a:solidFill>
                <a:latin typeface="Aptos"/>
                <a:ea typeface="Aptos"/>
                <a:cs typeface="Aptos"/>
              </a:defRPr>
            </a:pPr>
            <a:r>
              <a:rPr sz="1800" b="1">
                <a:solidFill>
                  <a:srgbClr val="111111"/>
                </a:solidFill>
                <a:latin typeface="Aptos"/>
                <a:ea typeface="Aptos"/>
                <a:cs typeface="Aptos"/>
              </a:rPr>
              <a:t>Physical pressure needs a calibrated force per taxel</a:t>
            </a:r>
          </a:p>
        </p:txBody>
      </p:sp>
      <p:sp>
        <p:nvSpPr>
          <p:cNvPr id="8" name="">
            <a:extLst xmlns:a="http://schemas.openxmlformats.org/drawingml/2006/main">
              <a:ext uri="{FF2B5EF4-FFF2-40B4-BE49-F238E27FC236}">
                <a16:creationId xmlns:a16="http://schemas.microsoft.com/office/drawing/2014/main" id="{C995B064-AC19-4391-95EB-1E7DC8098ABD}"/>
              </a:ext>
            </a:extLst>
          </p:cNvPr>
          <p:cNvSpPr>
            <a:spLocks xmlns:a="http://schemas.openxmlformats.org/drawingml/2006/main" noGrp="1"/>
          </p:cNvSpPr>
          <p:nvPr/>
        </p:nvSpPr>
        <p:spPr>
          <a:xfrm xmlns:a="http://schemas.openxmlformats.org/drawingml/2006/main">
            <a:off x="876300" y="20097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a:solidFill>
                  <a:srgbClr val="333333"/>
                </a:solidFill>
                <a:latin typeface="Aptos"/>
                <a:ea typeface="Aptos"/>
                <a:cs typeface="Aptos"/>
              </a:defRPr>
            </a:defPPr>
          </a:lstStyle>
          <a:p xmlns:a="http://schemas.openxmlformats.org/drawingml/2006/main">
            <a:pPr algn="l">
              <a:defRPr sz="2400" b="0">
                <a:solidFill>
                  <a:srgbClr val="333333"/>
                </a:solidFill>
                <a:latin typeface="Aptos"/>
                <a:ea typeface="Aptos"/>
                <a:cs typeface="Aptos"/>
              </a:defRPr>
            </a:pPr>
            <a:r>
              <a:rPr sz="2400" b="0">
                <a:solidFill>
                  <a:srgbClr val="333333"/>
                </a:solidFill>
                <a:latin typeface="Aptos"/>
                <a:ea typeface="Aptos"/>
                <a:cs typeface="Aptos"/>
              </a:rPr>
              <a:t>pᵢ = Fᵢ / Aᵢ                    Aᵢ = Δ²</a:t>
            </a:r>
          </a:p>
        </p:txBody>
      </p:sp>
      <p:sp>
        <p:nvSpPr>
          <p:cNvPr id="9" name="">
            <a:extLst xmlns:a="http://schemas.openxmlformats.org/drawingml/2006/main">
              <a:ext uri="{FF2B5EF4-FFF2-40B4-BE49-F238E27FC236}">
                <a16:creationId xmlns:a16="http://schemas.microsoft.com/office/drawing/2014/main" id="{08E817A3-8DBB-4D9A-B455-1D34673AD852}"/>
              </a:ext>
            </a:extLst>
          </p:cNvPr>
          <p:cNvSpPr>
            <a:spLocks xmlns:a="http://schemas.openxmlformats.org/drawingml/2006/main" noGrp="1"/>
          </p:cNvSpPr>
          <p:nvPr/>
        </p:nvSpPr>
        <p:spPr>
          <a:xfrm xmlns:a="http://schemas.openxmlformats.org/drawingml/2006/main">
            <a:off x="876300" y="2667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333333"/>
                </a:solidFill>
                <a:latin typeface="Aptos"/>
                <a:ea typeface="Aptos"/>
                <a:cs typeface="Aptos"/>
              </a:defRPr>
            </a:defPPr>
          </a:lstStyle>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Hand cell area: 4 mm². Sole cell area: 6.25 mm².</a:t>
            </a:r>
          </a:p>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The current response rᵢ alone does not determine Fᵢ or pressure in Pa.</a:t>
            </a:r>
          </a:p>
        </p:txBody>
      </p:sp>
      <p:sp>
        <p:nvSpPr>
          <p:cNvPr id="10" name="">
            <a:extLst xmlns:a="http://schemas.openxmlformats.org/drawingml/2006/main">
              <a:ext uri="{FF2B5EF4-FFF2-40B4-BE49-F238E27FC236}">
                <a16:creationId xmlns:a16="http://schemas.microsoft.com/office/drawing/2014/main" id="{6539491B-AF0A-4905-98B6-978C07B753AF}"/>
              </a:ext>
            </a:extLst>
          </p:cNvPr>
          <p:cNvSpPr>
            <a:spLocks xmlns:a="http://schemas.openxmlformats.org/drawingml/2006/main" noGrp="1"/>
          </p:cNvSpPr>
          <p:nvPr/>
        </p:nvSpPr>
        <p:spPr>
          <a:xfrm xmlns:a="http://schemas.openxmlformats.org/drawingml/2006/main">
            <a:off x="590550" y="3771900"/>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11111"/>
                </a:solidFill>
                <a:latin typeface="Aptos"/>
                <a:ea typeface="Aptos"/>
                <a:cs typeface="Aptos"/>
              </a:defRPr>
            </a:defPPr>
          </a:lstStyle>
          <a:p xmlns:a="http://schemas.openxmlformats.org/drawingml/2006/main">
            <a:pPr algn="l">
              <a:defRPr sz="1800" b="1">
                <a:solidFill>
                  <a:srgbClr val="111111"/>
                </a:solidFill>
                <a:latin typeface="Aptos"/>
                <a:ea typeface="Aptos"/>
                <a:cs typeface="Aptos"/>
              </a:defRPr>
            </a:pPr>
            <a:r>
              <a:rPr sz="1800" b="1">
                <a:solidFill>
                  <a:srgbClr val="111111"/>
                </a:solidFill>
                <a:latin typeface="Aptos"/>
                <a:ea typeface="Aptos"/>
                <a:cs typeface="Aptos"/>
              </a:rPr>
              <a:t>Next: measure loads and fit the response model</a:t>
            </a:r>
          </a:p>
        </p:txBody>
      </p:sp>
      <p:sp>
        <p:nvSpPr>
          <p:cNvPr id="11" name="">
            <a:extLst xmlns:a="http://schemas.openxmlformats.org/drawingml/2006/main">
              <a:ext uri="{FF2B5EF4-FFF2-40B4-BE49-F238E27FC236}">
                <a16:creationId xmlns:a16="http://schemas.microsoft.com/office/drawing/2014/main" id="{9B388153-86F1-4110-90FD-E9781D5C5092}"/>
              </a:ext>
            </a:extLst>
          </p:cNvPr>
          <p:cNvSpPr>
            <a:spLocks xmlns:a="http://schemas.openxmlformats.org/drawingml/2006/main" noGrp="1"/>
          </p:cNvSpPr>
          <p:nvPr/>
        </p:nvSpPr>
        <p:spPr>
          <a:xfrm xmlns:a="http://schemas.openxmlformats.org/drawingml/2006/main">
            <a:off x="590550" y="4295775"/>
            <a:ext cx="1102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333333"/>
                </a:solidFill>
                <a:latin typeface="Aptos"/>
                <a:ea typeface="Aptos"/>
                <a:cs typeface="Aptos"/>
              </a:defRPr>
            </a:defPPr>
          </a:lstStyle>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Use controlled contacts to identify stiffness, saturation and the sensor’s spatial response.</a:t>
            </a:r>
          </a:p>
          <a:p xmlns:a="http://schemas.openxmlformats.org/drawingml/2006/main">
            <a:pPr algn="l">
              <a:defRPr sz="1725" b="0">
                <a:solidFill>
                  <a:srgbClr val="333333"/>
                </a:solidFill>
                <a:latin typeface="Aptos"/>
                <a:ea typeface="Aptos"/>
                <a:cs typeface="Aptos"/>
              </a:defRPr>
            </a:pPr>
            <a:r>
              <a:rPr sz="1725" b="0">
                <a:solidFill>
                  <a:srgbClr val="333333"/>
                </a:solidFill>
                <a:latin typeface="Aptos"/>
                <a:ea typeface="Aptos"/>
                <a:cs typeface="Aptos"/>
              </a:rPr>
              <a:t>Compare predicted force and contact distribution with hardware measurements.</a:t>
            </a:r>
          </a:p>
        </p:txBody>
      </p:sp>
      <p:sp>
        <p:nvSpPr>
          <p:cNvPr id="12" name="">
            <a:extLst xmlns:a="http://schemas.openxmlformats.org/drawingml/2006/main">
              <a:ext uri="{FF2B5EF4-FFF2-40B4-BE49-F238E27FC236}">
                <a16:creationId xmlns:a16="http://schemas.microsoft.com/office/drawing/2014/main" id="{944E1C90-25F0-4B63-9652-91A7AF9F2B6B}"/>
              </a:ext>
            </a:extLst>
          </p:cNvPr>
          <p:cNvSpPr>
            <a:spLocks xmlns:a="http://schemas.openxmlformats.org/drawingml/2006/main" noGrp="1"/>
          </p:cNvSpPr>
          <p:nvPr/>
        </p:nvSpPr>
        <p:spPr>
          <a:xfrm xmlns:a="http://schemas.openxmlformats.org/drawingml/2006/main">
            <a:off x="590550" y="5372100"/>
            <a:ext cx="1102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11111"/>
                </a:solidFill>
                <a:latin typeface="Aptos"/>
                <a:ea typeface="Aptos"/>
                <a:cs typeface="Aptos"/>
              </a:defRPr>
            </a:defPPr>
          </a:lstStyle>
          <a:p xmlns:a="http://schemas.openxmlformats.org/drawingml/2006/main">
            <a:pPr algn="l">
              <a:defRPr sz="1800" b="1">
                <a:solidFill>
                  <a:srgbClr val="111111"/>
                </a:solidFill>
                <a:latin typeface="Aptos"/>
                <a:ea typeface="Aptos"/>
                <a:cs typeface="Aptos"/>
              </a:defRPr>
            </a:pPr>
            <a:r>
              <a:rPr sz="1800" b="1">
                <a:solidFill>
                  <a:srgbClr val="111111"/>
                </a:solidFill>
                <a:latin typeface="Aptos"/>
                <a:ea typeface="Aptos"/>
                <a:cs typeface="Aptos"/>
              </a:rPr>
              <a:t>Next: extend the physical task</a:t>
            </a:r>
          </a:p>
        </p:txBody>
      </p:sp>
      <p:sp>
        <p:nvSpPr>
          <p:cNvPr id="13" name="">
            <a:extLst xmlns:a="http://schemas.openxmlformats.org/drawingml/2006/main">
              <a:ext uri="{FF2B5EF4-FFF2-40B4-BE49-F238E27FC236}">
                <a16:creationId xmlns:a16="http://schemas.microsoft.com/office/drawing/2014/main" id="{176B8C4D-802D-46FF-AB90-2AF00FA618A9}"/>
              </a:ext>
            </a:extLst>
          </p:cNvPr>
          <p:cNvSpPr>
            <a:spLocks xmlns:a="http://schemas.openxmlformats.org/drawingml/2006/main" noGrp="1"/>
          </p:cNvSpPr>
          <p:nvPr/>
        </p:nvSpPr>
        <p:spPr>
          <a:xfrm xmlns:a="http://schemas.openxmlformats.org/drawingml/2006/main">
            <a:off x="590550" y="5886450"/>
            <a:ext cx="1102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333333"/>
                </a:solidFill>
                <a:latin typeface="Aptos"/>
                <a:ea typeface="Aptos"/>
                <a:cs typeface="Aptos"/>
              </a:defRPr>
            </a:defPPr>
          </a:lstStyle>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Validate standing with a floating base, add signed terrain queries, and build grasp policies.</a:t>
            </a:r>
          </a:p>
          <a:p xmlns:a="http://schemas.openxmlformats.org/drawingml/2006/main">
            <a:pPr algn="l">
              <a:defRPr sz="1650" b="0">
                <a:solidFill>
                  <a:srgbClr val="333333"/>
                </a:solidFill>
                <a:latin typeface="Aptos"/>
                <a:ea typeface="Aptos"/>
                <a:cs typeface="Aptos"/>
              </a:defRPr>
            </a:pPr>
            <a:r>
              <a:rPr sz="1650" b="0">
                <a:solidFill>
                  <a:srgbClr val="333333"/>
                </a:solidFill>
                <a:latin typeface="Aptos"/>
                <a:ea typeface="Aptos"/>
                <a:cs typeface="Aptos"/>
              </a:rPr>
              <a:t>The current fixed-base demo supports manual gripper control and repeatable ball resets.</a:t>
            </a:r>
          </a:p>
        </p:txBody>
      </p:sp>
    </p:spTree>
    <p:extLst>
      <p:ext uri="{BB962C8B-B14F-4D97-AF65-F5344CB8AC3E}">
        <p14:creationId xmlns:p14="http://schemas.microsoft.com/office/powerpoint/2010/main" val="886803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2026-10-29T07:04:15.7930000Z</dcterms:created>
  <dcterms:modified xsi:type="dcterms:W3CDTF">2026-10-29T07:04:15.7930000Z</dcterms:modified>
</coreProperties>
</file>